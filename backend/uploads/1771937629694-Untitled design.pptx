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ukta Bold" panose="020B0604020202020204" charset="0"/>
      <p:regular r:id="rId12"/>
    </p:embeddedFont>
    <p:embeddedFont>
      <p:font typeface="Mukta Light" panose="020B0604020202020204" charset="0"/>
      <p:regular r:id="rId13"/>
    </p:embeddedFont>
    <p:embeddedFont>
      <p:font typeface="Prompt Light" panose="00000400000000000000" pitchFamily="2" charset="-34"/>
      <p:regular r:id="rId14"/>
    </p:embeddedFont>
    <p:embeddedFont>
      <p:font typeface="Prompt Medium" panose="00000600000000000000" pitchFamily="2" charset="-3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stephen06@gmail.com" userId="8f1ee5b7d83caf4f" providerId="LiveId" clId="{90C45208-C0ED-4E9E-B6B0-986A5DDDF5EB}"/>
    <pc:docChg chg="undo custSel modSld">
      <pc:chgData name="alanstephen06@gmail.com" userId="8f1ee5b7d83caf4f" providerId="LiveId" clId="{90C45208-C0ED-4E9E-B6B0-986A5DDDF5EB}" dt="2026-02-16T03:52:22.703" v="24" actId="1076"/>
      <pc:docMkLst>
        <pc:docMk/>
      </pc:docMkLst>
      <pc:sldChg chg="modSp mod">
        <pc:chgData name="alanstephen06@gmail.com" userId="8f1ee5b7d83caf4f" providerId="LiveId" clId="{90C45208-C0ED-4E9E-B6B0-986A5DDDF5EB}" dt="2026-02-16T03:50:43.596" v="12" actId="1076"/>
        <pc:sldMkLst>
          <pc:docMk/>
          <pc:sldMk cId="0" sldId="258"/>
        </pc:sldMkLst>
        <pc:spChg chg="mod">
          <ac:chgData name="alanstephen06@gmail.com" userId="8f1ee5b7d83caf4f" providerId="LiveId" clId="{90C45208-C0ED-4E9E-B6B0-986A5DDDF5EB}" dt="2026-02-16T03:50:43.596" v="12" actId="1076"/>
          <ac:spMkLst>
            <pc:docMk/>
            <pc:sldMk cId="0" sldId="258"/>
            <ac:spMk id="8" creationId="{00000000-0000-0000-0000-000000000000}"/>
          </ac:spMkLst>
        </pc:spChg>
        <pc:spChg chg="mod">
          <ac:chgData name="alanstephen06@gmail.com" userId="8f1ee5b7d83caf4f" providerId="LiveId" clId="{90C45208-C0ED-4E9E-B6B0-986A5DDDF5EB}" dt="2026-02-16T03:48:17.224" v="1" actId="1076"/>
          <ac:spMkLst>
            <pc:docMk/>
            <pc:sldMk cId="0" sldId="258"/>
            <ac:spMk id="10" creationId="{00000000-0000-0000-0000-000000000000}"/>
          </ac:spMkLst>
        </pc:spChg>
        <pc:grpChg chg="mod">
          <ac:chgData name="alanstephen06@gmail.com" userId="8f1ee5b7d83caf4f" providerId="LiveId" clId="{90C45208-C0ED-4E9E-B6B0-986A5DDDF5EB}" dt="2026-02-16T03:48:01.358" v="0" actId="1076"/>
          <ac:grpSpMkLst>
            <pc:docMk/>
            <pc:sldMk cId="0" sldId="258"/>
            <ac:grpSpMk id="4" creationId="{00000000-0000-0000-0000-000000000000}"/>
          </ac:grpSpMkLst>
        </pc:grpChg>
      </pc:sldChg>
      <pc:sldChg chg="modSp mod">
        <pc:chgData name="alanstephen06@gmail.com" userId="8f1ee5b7d83caf4f" providerId="LiveId" clId="{90C45208-C0ED-4E9E-B6B0-986A5DDDF5EB}" dt="2026-02-16T03:48:25.968" v="2" actId="1076"/>
        <pc:sldMkLst>
          <pc:docMk/>
          <pc:sldMk cId="0" sldId="259"/>
        </pc:sldMkLst>
        <pc:spChg chg="mod">
          <ac:chgData name="alanstephen06@gmail.com" userId="8f1ee5b7d83caf4f" providerId="LiveId" clId="{90C45208-C0ED-4E9E-B6B0-986A5DDDF5EB}" dt="2026-02-16T03:48:25.968" v="2" actId="1076"/>
          <ac:spMkLst>
            <pc:docMk/>
            <pc:sldMk cId="0" sldId="259"/>
            <ac:spMk id="11" creationId="{00000000-0000-0000-0000-000000000000}"/>
          </ac:spMkLst>
        </pc:spChg>
      </pc:sldChg>
      <pc:sldChg chg="modSp mod">
        <pc:chgData name="alanstephen06@gmail.com" userId="8f1ee5b7d83caf4f" providerId="LiveId" clId="{90C45208-C0ED-4E9E-B6B0-986A5DDDF5EB}" dt="2026-02-16T03:52:06.297" v="23" actId="1076"/>
        <pc:sldMkLst>
          <pc:docMk/>
          <pc:sldMk cId="0" sldId="260"/>
        </pc:sldMkLst>
        <pc:spChg chg="mod">
          <ac:chgData name="alanstephen06@gmail.com" userId="8f1ee5b7d83caf4f" providerId="LiveId" clId="{90C45208-C0ED-4E9E-B6B0-986A5DDDF5EB}" dt="2026-02-16T03:51:59.864" v="22" actId="1076"/>
          <ac:spMkLst>
            <pc:docMk/>
            <pc:sldMk cId="0" sldId="260"/>
            <ac:spMk id="5" creationId="{00000000-0000-0000-0000-000000000000}"/>
          </ac:spMkLst>
        </pc:spChg>
        <pc:spChg chg="mod">
          <ac:chgData name="alanstephen06@gmail.com" userId="8f1ee5b7d83caf4f" providerId="LiveId" clId="{90C45208-C0ED-4E9E-B6B0-986A5DDDF5EB}" dt="2026-02-16T03:51:41.987" v="20" actId="1076"/>
          <ac:spMkLst>
            <pc:docMk/>
            <pc:sldMk cId="0" sldId="260"/>
            <ac:spMk id="8" creationId="{00000000-0000-0000-0000-000000000000}"/>
          </ac:spMkLst>
        </pc:spChg>
        <pc:spChg chg="mod">
          <ac:chgData name="alanstephen06@gmail.com" userId="8f1ee5b7d83caf4f" providerId="LiveId" clId="{90C45208-C0ED-4E9E-B6B0-986A5DDDF5EB}" dt="2026-02-16T03:48:56.836" v="6" actId="1076"/>
          <ac:spMkLst>
            <pc:docMk/>
            <pc:sldMk cId="0" sldId="260"/>
            <ac:spMk id="9" creationId="{00000000-0000-0000-0000-000000000000}"/>
          </ac:spMkLst>
        </pc:spChg>
        <pc:spChg chg="mod">
          <ac:chgData name="alanstephen06@gmail.com" userId="8f1ee5b7d83caf4f" providerId="LiveId" clId="{90C45208-C0ED-4E9E-B6B0-986A5DDDF5EB}" dt="2026-02-16T03:52:06.297" v="23" actId="1076"/>
          <ac:spMkLst>
            <pc:docMk/>
            <pc:sldMk cId="0" sldId="260"/>
            <ac:spMk id="10" creationId="{00000000-0000-0000-0000-000000000000}"/>
          </ac:spMkLst>
        </pc:spChg>
        <pc:grpChg chg="mod">
          <ac:chgData name="alanstephen06@gmail.com" userId="8f1ee5b7d83caf4f" providerId="LiveId" clId="{90C45208-C0ED-4E9E-B6B0-986A5DDDF5EB}" dt="2026-02-16T03:51:47.367" v="21" actId="1076"/>
          <ac:grpSpMkLst>
            <pc:docMk/>
            <pc:sldMk cId="0" sldId="260"/>
            <ac:grpSpMk id="4" creationId="{00000000-0000-0000-0000-000000000000}"/>
          </ac:grpSpMkLst>
        </pc:grpChg>
        <pc:grpChg chg="mod">
          <ac:chgData name="alanstephen06@gmail.com" userId="8f1ee5b7d83caf4f" providerId="LiveId" clId="{90C45208-C0ED-4E9E-B6B0-986A5DDDF5EB}" dt="2026-02-16T03:51:21.018" v="16" actId="1076"/>
          <ac:grpSpMkLst>
            <pc:docMk/>
            <pc:sldMk cId="0" sldId="260"/>
            <ac:grpSpMk id="6" creationId="{00000000-0000-0000-0000-000000000000}"/>
          </ac:grpSpMkLst>
        </pc:grpChg>
      </pc:sldChg>
      <pc:sldChg chg="modSp mod">
        <pc:chgData name="alanstephen06@gmail.com" userId="8f1ee5b7d83caf4f" providerId="LiveId" clId="{90C45208-C0ED-4E9E-B6B0-986A5DDDF5EB}" dt="2026-02-16T03:50:08.972" v="10" actId="1076"/>
        <pc:sldMkLst>
          <pc:docMk/>
          <pc:sldMk cId="0" sldId="264"/>
        </pc:sldMkLst>
        <pc:spChg chg="mod">
          <ac:chgData name="alanstephen06@gmail.com" userId="8f1ee5b7d83caf4f" providerId="LiveId" clId="{90C45208-C0ED-4E9E-B6B0-986A5DDDF5EB}" dt="2026-02-16T03:50:08.972" v="10" actId="1076"/>
          <ac:spMkLst>
            <pc:docMk/>
            <pc:sldMk cId="0" sldId="264"/>
            <ac:spMk id="11" creationId="{00000000-0000-0000-0000-000000000000}"/>
          </ac:spMkLst>
        </pc:spChg>
      </pc:sldChg>
      <pc:sldChg chg="modSp mod">
        <pc:chgData name="alanstephen06@gmail.com" userId="8f1ee5b7d83caf4f" providerId="LiveId" clId="{90C45208-C0ED-4E9E-B6B0-986A5DDDF5EB}" dt="2026-02-16T03:52:22.703" v="24" actId="1076"/>
        <pc:sldMkLst>
          <pc:docMk/>
          <pc:sldMk cId="0" sldId="265"/>
        </pc:sldMkLst>
        <pc:spChg chg="mod">
          <ac:chgData name="alanstephen06@gmail.com" userId="8f1ee5b7d83caf4f" providerId="LiveId" clId="{90C45208-C0ED-4E9E-B6B0-986A5DDDF5EB}" dt="2026-02-16T03:52:22.703" v="24" actId="1076"/>
          <ac:spMkLst>
            <pc:docMk/>
            <pc:sldMk cId="0" sldId="265"/>
            <ac:spMk id="2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16-Feb-26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1101328" y="3540623"/>
            <a:ext cx="9227344" cy="2323509"/>
          </a:xfrm>
          <a:prstGeom prst="rect">
            <a:avLst/>
          </a:prstGeom>
        </p:spPr>
        <p:txBody>
          <a:bodyPr lIns="0" tIns="0" rIns="0" bIns="0" rtlCol="0" anchor="t">
            <a:spAutoFit/>
          </a:bodyPr>
          <a:lstStyle/>
          <a:p>
            <a:pPr algn="l">
              <a:lnSpc>
                <a:spcPts val="6000"/>
              </a:lnSpc>
            </a:pPr>
            <a:r>
              <a:rPr lang="en-US" sz="4812" b="1">
                <a:solidFill>
                  <a:srgbClr val="C6BFEE"/>
                </a:solidFill>
                <a:latin typeface="Prompt Medium"/>
                <a:ea typeface="Prompt Medium"/>
                <a:cs typeface="Prompt Medium"/>
                <a:sym typeface="Prompt Medium"/>
              </a:rPr>
              <a:t>EduMetrics: Student Performance Segmentation &amp; Analytics</a:t>
            </a:r>
          </a:p>
        </p:txBody>
      </p:sp>
      <p:sp>
        <p:nvSpPr>
          <p:cNvPr id="9" name="TextBox 9"/>
          <p:cNvSpPr txBox="1"/>
          <p:nvPr/>
        </p:nvSpPr>
        <p:spPr>
          <a:xfrm>
            <a:off x="1101328" y="6200927"/>
            <a:ext cx="9227344" cy="516731"/>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Unlocking academic success through machine learning and data-driven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101328" y="1666284"/>
            <a:ext cx="1287066" cy="517627"/>
            <a:chOff x="0" y="0"/>
            <a:chExt cx="1716088" cy="690169"/>
          </a:xfrm>
        </p:grpSpPr>
        <p:sp>
          <p:nvSpPr>
            <p:cNvPr id="7" name="Freeform 7"/>
            <p:cNvSpPr/>
            <p:nvPr/>
          </p:nvSpPr>
          <p:spPr>
            <a:xfrm>
              <a:off x="0" y="0"/>
              <a:ext cx="1716024" cy="690118"/>
            </a:xfrm>
            <a:custGeom>
              <a:avLst/>
              <a:gdLst/>
              <a:ahLst/>
              <a:cxnLst/>
              <a:rect l="l" t="t" r="r" b="b"/>
              <a:pathLst>
                <a:path w="1716024" h="690118">
                  <a:moveTo>
                    <a:pt x="0" y="123317"/>
                  </a:moveTo>
                  <a:cubicBezTo>
                    <a:pt x="0" y="55245"/>
                    <a:pt x="55245" y="0"/>
                    <a:pt x="123317" y="0"/>
                  </a:cubicBezTo>
                  <a:lnTo>
                    <a:pt x="1592707" y="0"/>
                  </a:lnTo>
                  <a:cubicBezTo>
                    <a:pt x="1660779" y="0"/>
                    <a:pt x="1716024" y="55245"/>
                    <a:pt x="1716024" y="123317"/>
                  </a:cubicBezTo>
                  <a:lnTo>
                    <a:pt x="1716024" y="566801"/>
                  </a:lnTo>
                  <a:cubicBezTo>
                    <a:pt x="1716024" y="634873"/>
                    <a:pt x="1660779" y="690118"/>
                    <a:pt x="1592707" y="690118"/>
                  </a:cubicBezTo>
                  <a:lnTo>
                    <a:pt x="123317" y="690118"/>
                  </a:lnTo>
                  <a:cubicBezTo>
                    <a:pt x="55245" y="690118"/>
                    <a:pt x="0" y="634873"/>
                    <a:pt x="0" y="566801"/>
                  </a:cubicBezTo>
                  <a:close/>
                </a:path>
              </a:pathLst>
            </a:custGeom>
            <a:solidFill>
              <a:srgbClr val="321A2C"/>
            </a:solidFill>
          </p:spPr>
        </p:sp>
      </p:grpSp>
      <p:sp>
        <p:nvSpPr>
          <p:cNvPr id="8" name="TextBox 8"/>
          <p:cNvSpPr txBox="1"/>
          <p:nvPr/>
        </p:nvSpPr>
        <p:spPr>
          <a:xfrm>
            <a:off x="1266530" y="1682201"/>
            <a:ext cx="956672" cy="419100"/>
          </a:xfrm>
          <a:prstGeom prst="rect">
            <a:avLst/>
          </a:prstGeom>
        </p:spPr>
        <p:txBody>
          <a:bodyPr lIns="0" tIns="0" rIns="0" bIns="0" rtlCol="0" anchor="t">
            <a:spAutoFit/>
          </a:bodyPr>
          <a:lstStyle/>
          <a:p>
            <a:pPr algn="l">
              <a:lnSpc>
                <a:spcPts val="2749"/>
              </a:lnSpc>
            </a:pPr>
            <a:r>
              <a:rPr lang="en-US" sz="1687">
                <a:solidFill>
                  <a:srgbClr val="DAD8E9"/>
                </a:solidFill>
                <a:latin typeface="Mukta Light"/>
                <a:ea typeface="Mukta Light"/>
                <a:cs typeface="Mukta Light"/>
                <a:sym typeface="Mukta Light"/>
              </a:rPr>
              <a:t>OVERVIEW</a:t>
            </a:r>
          </a:p>
        </p:txBody>
      </p:sp>
      <p:sp>
        <p:nvSpPr>
          <p:cNvPr id="9" name="TextBox 9"/>
          <p:cNvSpPr txBox="1"/>
          <p:nvPr/>
        </p:nvSpPr>
        <p:spPr>
          <a:xfrm>
            <a:off x="1101328" y="2265464"/>
            <a:ext cx="6119222" cy="793547"/>
          </a:xfrm>
          <a:prstGeom prst="rect">
            <a:avLst/>
          </a:prstGeom>
        </p:spPr>
        <p:txBody>
          <a:bodyPr lIns="0" tIns="0" rIns="0" bIns="0" rtlCol="0" anchor="t">
            <a:spAutoFit/>
          </a:bodyPr>
          <a:lstStyle/>
          <a:p>
            <a:pPr algn="l">
              <a:lnSpc>
                <a:spcPts val="6000"/>
              </a:lnSpc>
            </a:pPr>
            <a:r>
              <a:rPr lang="en-US" sz="4812" b="1">
                <a:solidFill>
                  <a:srgbClr val="C6BFEE"/>
                </a:solidFill>
                <a:latin typeface="Prompt Medium"/>
                <a:ea typeface="Prompt Medium"/>
                <a:cs typeface="Prompt Medium"/>
                <a:sym typeface="Prompt Medium"/>
              </a:rPr>
              <a:t>Executive Summary</a:t>
            </a:r>
          </a:p>
        </p:txBody>
      </p:sp>
      <p:sp>
        <p:nvSpPr>
          <p:cNvPr id="10" name="TextBox 10"/>
          <p:cNvSpPr txBox="1"/>
          <p:nvPr/>
        </p:nvSpPr>
        <p:spPr>
          <a:xfrm>
            <a:off x="1101328" y="3643608"/>
            <a:ext cx="9382420" cy="2278856"/>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The EduMetrics project identifies key determinants of student academic success and segments the student population into actionable personas using machine learning. By analyzing a dataset of over 6,000 student records, we employed Clustering (K-Means), Dimensionality Reduction (PCA), and Association analysis to derive meaningful insights.</a:t>
            </a:r>
          </a:p>
        </p:txBody>
      </p:sp>
      <p:sp>
        <p:nvSpPr>
          <p:cNvPr id="11" name="TextBox 11"/>
          <p:cNvSpPr txBox="1"/>
          <p:nvPr/>
        </p:nvSpPr>
        <p:spPr>
          <a:xfrm>
            <a:off x="1101328" y="6094066"/>
            <a:ext cx="9382420" cy="2278856"/>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Our analysis reveals that </a:t>
            </a:r>
            <a:r>
              <a:rPr lang="en-US" sz="2125" b="1">
                <a:solidFill>
                  <a:srgbClr val="DAD8E9"/>
                </a:solidFill>
                <a:latin typeface="Mukta Bold"/>
                <a:ea typeface="Mukta Bold"/>
                <a:cs typeface="Mukta Bold"/>
                <a:sym typeface="Mukta Bold"/>
              </a:rPr>
              <a:t>Attendance</a:t>
            </a:r>
            <a:r>
              <a:rPr lang="en-US" sz="2125">
                <a:solidFill>
                  <a:srgbClr val="DAD8E9"/>
                </a:solidFill>
                <a:latin typeface="Mukta Light"/>
                <a:ea typeface="Mukta Light"/>
                <a:cs typeface="Mukta Light"/>
                <a:sym typeface="Mukta Light"/>
              </a:rPr>
              <a:t> and </a:t>
            </a:r>
            <a:r>
              <a:rPr lang="en-US" sz="2125" b="1">
                <a:solidFill>
                  <a:srgbClr val="DAD8E9"/>
                </a:solidFill>
                <a:latin typeface="Mukta Bold"/>
                <a:ea typeface="Mukta Bold"/>
                <a:cs typeface="Mukta Bold"/>
                <a:sym typeface="Mukta Bold"/>
              </a:rPr>
              <a:t>Study Hours</a:t>
            </a:r>
            <a:r>
              <a:rPr lang="en-US" sz="2125">
                <a:solidFill>
                  <a:srgbClr val="DAD8E9"/>
                </a:solidFill>
                <a:latin typeface="Mukta Light"/>
                <a:ea typeface="Mukta Light"/>
                <a:cs typeface="Mukta Light"/>
                <a:sym typeface="Mukta Light"/>
              </a:rPr>
              <a:t> are the primary drivers of exam performance, while Tutoring and Parental Involvement serve as critical support structures. This data-driven approach moves beyond simple grade-tracking to behavioral segmentation, enabling institutions to provide personalized support that addresses the specific needs of each student cluster.</a:t>
            </a:r>
          </a:p>
        </p:txBody>
      </p:sp>
      <p:grpSp>
        <p:nvGrpSpPr>
          <p:cNvPr id="12" name="Group 12"/>
          <p:cNvGrpSpPr/>
          <p:nvPr/>
        </p:nvGrpSpPr>
        <p:grpSpPr>
          <a:xfrm>
            <a:off x="10966847" y="3472015"/>
            <a:ext cx="6427441" cy="5148710"/>
            <a:chOff x="0" y="0"/>
            <a:chExt cx="8569922" cy="6864947"/>
          </a:xfrm>
        </p:grpSpPr>
        <p:sp>
          <p:nvSpPr>
            <p:cNvPr id="13" name="Freeform 13"/>
            <p:cNvSpPr/>
            <p:nvPr/>
          </p:nvSpPr>
          <p:spPr>
            <a:xfrm>
              <a:off x="0" y="0"/>
              <a:ext cx="8569960" cy="6864985"/>
            </a:xfrm>
            <a:custGeom>
              <a:avLst/>
              <a:gdLst/>
              <a:ahLst/>
              <a:cxnLst/>
              <a:rect l="l" t="t" r="r" b="b"/>
              <a:pathLst>
                <a:path w="8569960" h="6864985">
                  <a:moveTo>
                    <a:pt x="0" y="264414"/>
                  </a:moveTo>
                  <a:cubicBezTo>
                    <a:pt x="0" y="118364"/>
                    <a:pt x="118364" y="0"/>
                    <a:pt x="264414" y="0"/>
                  </a:cubicBezTo>
                  <a:lnTo>
                    <a:pt x="8305546" y="0"/>
                  </a:lnTo>
                  <a:cubicBezTo>
                    <a:pt x="8451596" y="0"/>
                    <a:pt x="8569960" y="118364"/>
                    <a:pt x="8569960" y="264414"/>
                  </a:cubicBezTo>
                  <a:lnTo>
                    <a:pt x="8569960" y="6600571"/>
                  </a:lnTo>
                  <a:cubicBezTo>
                    <a:pt x="8569960" y="6746621"/>
                    <a:pt x="8451596" y="6864985"/>
                    <a:pt x="8305546" y="6864985"/>
                  </a:cubicBezTo>
                  <a:lnTo>
                    <a:pt x="264414" y="6864985"/>
                  </a:lnTo>
                  <a:cubicBezTo>
                    <a:pt x="118364" y="6864985"/>
                    <a:pt x="0" y="6746621"/>
                    <a:pt x="0" y="6600571"/>
                  </a:cubicBezTo>
                  <a:close/>
                </a:path>
              </a:pathLst>
            </a:custGeom>
            <a:solidFill>
              <a:srgbClr val="A95B95">
                <a:alpha val="90196"/>
              </a:srgbClr>
            </a:solidFill>
          </p:spPr>
        </p:sp>
      </p:grpSp>
      <p:sp>
        <p:nvSpPr>
          <p:cNvPr id="14" name="TextBox 14"/>
          <p:cNvSpPr txBox="1"/>
          <p:nvPr/>
        </p:nvSpPr>
        <p:spPr>
          <a:xfrm>
            <a:off x="11242177" y="3728295"/>
            <a:ext cx="3059611" cy="401536"/>
          </a:xfrm>
          <a:prstGeom prst="rect">
            <a:avLst/>
          </a:prstGeom>
        </p:spPr>
        <p:txBody>
          <a:bodyPr lIns="0" tIns="0" rIns="0" bIns="0" rtlCol="0" anchor="t">
            <a:spAutoFit/>
          </a:bodyPr>
          <a:lstStyle/>
          <a:p>
            <a:pPr algn="l">
              <a:lnSpc>
                <a:spcPts val="3000"/>
              </a:lnSpc>
            </a:pPr>
            <a:r>
              <a:rPr lang="en-US" sz="2375" b="1">
                <a:solidFill>
                  <a:srgbClr val="000000"/>
                </a:solidFill>
                <a:latin typeface="Prompt Medium"/>
                <a:ea typeface="Prompt Medium"/>
                <a:cs typeface="Prompt Medium"/>
                <a:sym typeface="Prompt Medium"/>
              </a:rPr>
              <a:t>Key Outcomes</a:t>
            </a:r>
          </a:p>
        </p:txBody>
      </p:sp>
      <p:sp>
        <p:nvSpPr>
          <p:cNvPr id="15" name="TextBox 15"/>
          <p:cNvSpPr txBox="1"/>
          <p:nvPr/>
        </p:nvSpPr>
        <p:spPr>
          <a:xfrm>
            <a:off x="11242177" y="4328960"/>
            <a:ext cx="5876773" cy="2127199"/>
          </a:xfrm>
          <a:prstGeom prst="rect">
            <a:avLst/>
          </a:prstGeom>
        </p:spPr>
        <p:txBody>
          <a:bodyPr lIns="0" tIns="0" rIns="0" bIns="0" rtlCol="0" anchor="t">
            <a:spAutoFit/>
          </a:bodyPr>
          <a:lstStyle/>
          <a:p>
            <a:pPr marL="320477" lvl="1" indent="-160238" algn="l">
              <a:lnSpc>
                <a:spcPts val="3437"/>
              </a:lnSpc>
              <a:buFont typeface="Arial"/>
              <a:buChar char="•"/>
            </a:pPr>
            <a:r>
              <a:rPr lang="en-US" sz="2125">
                <a:solidFill>
                  <a:srgbClr val="000000"/>
                </a:solidFill>
                <a:latin typeface="Mukta Light"/>
                <a:ea typeface="Mukta Light"/>
                <a:cs typeface="Mukta Light"/>
                <a:sym typeface="Mukta Light"/>
              </a:rPr>
              <a:t>4 distinct student personas identified</a:t>
            </a:r>
          </a:p>
          <a:p>
            <a:pPr marL="320477" lvl="1" indent="-160238" algn="l">
              <a:lnSpc>
                <a:spcPts val="3437"/>
              </a:lnSpc>
              <a:buFont typeface="Arial"/>
              <a:buChar char="•"/>
            </a:pPr>
            <a:r>
              <a:rPr lang="en-US" sz="2125">
                <a:solidFill>
                  <a:srgbClr val="000000"/>
                </a:solidFill>
                <a:latin typeface="Mukta Light"/>
                <a:ea typeface="Mukta Light"/>
                <a:cs typeface="Mukta Light"/>
                <a:sym typeface="Mukta Light"/>
              </a:rPr>
              <a:t>6,000+ student records analyzed</a:t>
            </a:r>
          </a:p>
          <a:p>
            <a:pPr marL="320477" lvl="1" indent="-160238" algn="l">
              <a:lnSpc>
                <a:spcPts val="3437"/>
              </a:lnSpc>
              <a:buFont typeface="Arial"/>
              <a:buChar char="•"/>
            </a:pPr>
            <a:r>
              <a:rPr lang="en-US" sz="2125">
                <a:solidFill>
                  <a:srgbClr val="000000"/>
                </a:solidFill>
                <a:latin typeface="Mukta Light"/>
                <a:ea typeface="Mukta Light"/>
                <a:cs typeface="Mukta Light"/>
                <a:sym typeface="Mukta Light"/>
              </a:rPr>
              <a:t>Actionable intervention strategies developed</a:t>
            </a:r>
          </a:p>
          <a:p>
            <a:pPr marL="320477" lvl="1" indent="-160238" algn="l">
              <a:lnSpc>
                <a:spcPts val="3437"/>
              </a:lnSpc>
              <a:buFont typeface="Arial"/>
              <a:buChar char="•"/>
            </a:pPr>
            <a:r>
              <a:rPr lang="en-US" sz="2125">
                <a:solidFill>
                  <a:srgbClr val="000000"/>
                </a:solidFill>
                <a:latin typeface="Mukta Light"/>
                <a:ea typeface="Mukta Light"/>
                <a:cs typeface="Mukta Light"/>
                <a:sym typeface="Mukta Light"/>
              </a:rPr>
              <a:t>Predictive modeling framework established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28575" y="14287"/>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096566" y="908742"/>
            <a:ext cx="2090738" cy="546202"/>
            <a:chOff x="0" y="0"/>
            <a:chExt cx="2787650" cy="728269"/>
          </a:xfrm>
        </p:grpSpPr>
        <p:sp>
          <p:nvSpPr>
            <p:cNvPr id="7" name="Freeform 7"/>
            <p:cNvSpPr/>
            <p:nvPr/>
          </p:nvSpPr>
          <p:spPr>
            <a:xfrm>
              <a:off x="0" y="0"/>
              <a:ext cx="2787650" cy="728218"/>
            </a:xfrm>
            <a:custGeom>
              <a:avLst/>
              <a:gdLst/>
              <a:ahLst/>
              <a:cxnLst/>
              <a:rect l="l" t="t" r="r" b="b"/>
              <a:pathLst>
                <a:path w="2787650" h="728218">
                  <a:moveTo>
                    <a:pt x="0" y="129667"/>
                  </a:moveTo>
                  <a:cubicBezTo>
                    <a:pt x="0" y="58039"/>
                    <a:pt x="58928" y="0"/>
                    <a:pt x="131318" y="0"/>
                  </a:cubicBezTo>
                  <a:lnTo>
                    <a:pt x="2656332" y="0"/>
                  </a:lnTo>
                  <a:lnTo>
                    <a:pt x="2656332" y="6350"/>
                  </a:lnTo>
                  <a:lnTo>
                    <a:pt x="2656332" y="0"/>
                  </a:lnTo>
                  <a:cubicBezTo>
                    <a:pt x="2728849" y="0"/>
                    <a:pt x="2787650" y="58039"/>
                    <a:pt x="2787650" y="129667"/>
                  </a:cubicBezTo>
                  <a:lnTo>
                    <a:pt x="2781300" y="129667"/>
                  </a:lnTo>
                  <a:lnTo>
                    <a:pt x="2787650" y="129667"/>
                  </a:lnTo>
                  <a:lnTo>
                    <a:pt x="2787650" y="598551"/>
                  </a:lnTo>
                  <a:lnTo>
                    <a:pt x="2781300" y="598551"/>
                  </a:lnTo>
                  <a:lnTo>
                    <a:pt x="2787650" y="598551"/>
                  </a:lnTo>
                  <a:cubicBezTo>
                    <a:pt x="2787650" y="670306"/>
                    <a:pt x="2728722" y="728218"/>
                    <a:pt x="2656332" y="728218"/>
                  </a:cubicBezTo>
                  <a:lnTo>
                    <a:pt x="2656332" y="721868"/>
                  </a:lnTo>
                  <a:lnTo>
                    <a:pt x="2656332" y="728218"/>
                  </a:lnTo>
                  <a:lnTo>
                    <a:pt x="131318" y="728218"/>
                  </a:lnTo>
                  <a:lnTo>
                    <a:pt x="131318" y="721868"/>
                  </a:lnTo>
                  <a:lnTo>
                    <a:pt x="131318" y="728218"/>
                  </a:lnTo>
                  <a:cubicBezTo>
                    <a:pt x="58928" y="728218"/>
                    <a:pt x="0" y="670306"/>
                    <a:pt x="0" y="598551"/>
                  </a:cubicBezTo>
                  <a:lnTo>
                    <a:pt x="0" y="129667"/>
                  </a:lnTo>
                  <a:lnTo>
                    <a:pt x="6350" y="129667"/>
                  </a:lnTo>
                  <a:lnTo>
                    <a:pt x="0" y="129667"/>
                  </a:lnTo>
                  <a:moveTo>
                    <a:pt x="12700" y="129667"/>
                  </a:moveTo>
                  <a:lnTo>
                    <a:pt x="12700" y="598551"/>
                  </a:lnTo>
                  <a:lnTo>
                    <a:pt x="6350" y="598551"/>
                  </a:lnTo>
                  <a:lnTo>
                    <a:pt x="12700" y="598551"/>
                  </a:lnTo>
                  <a:cubicBezTo>
                    <a:pt x="12700" y="663067"/>
                    <a:pt x="65786" y="715518"/>
                    <a:pt x="131318" y="715518"/>
                  </a:cubicBezTo>
                  <a:lnTo>
                    <a:pt x="2656332" y="715518"/>
                  </a:lnTo>
                  <a:cubicBezTo>
                    <a:pt x="2721991" y="715518"/>
                    <a:pt x="2774950" y="663067"/>
                    <a:pt x="2774950" y="598551"/>
                  </a:cubicBezTo>
                  <a:lnTo>
                    <a:pt x="2774950" y="129667"/>
                  </a:lnTo>
                  <a:cubicBezTo>
                    <a:pt x="2774950" y="65151"/>
                    <a:pt x="2721864" y="12700"/>
                    <a:pt x="2656332" y="12700"/>
                  </a:cubicBezTo>
                  <a:lnTo>
                    <a:pt x="131318" y="12700"/>
                  </a:lnTo>
                  <a:lnTo>
                    <a:pt x="131318" y="6350"/>
                  </a:lnTo>
                  <a:lnTo>
                    <a:pt x="131318" y="12700"/>
                  </a:lnTo>
                  <a:cubicBezTo>
                    <a:pt x="65786" y="12700"/>
                    <a:pt x="12700" y="65151"/>
                    <a:pt x="12700" y="129667"/>
                  </a:cubicBezTo>
                  <a:close/>
                </a:path>
              </a:pathLst>
            </a:custGeom>
            <a:solidFill>
              <a:srgbClr val="A95B95"/>
            </a:solidFill>
          </p:spPr>
        </p:sp>
      </p:grpSp>
      <p:sp>
        <p:nvSpPr>
          <p:cNvPr id="8" name="TextBox 8"/>
          <p:cNvSpPr txBox="1"/>
          <p:nvPr/>
        </p:nvSpPr>
        <p:spPr>
          <a:xfrm>
            <a:off x="1276055" y="1006359"/>
            <a:ext cx="1911249" cy="324641"/>
          </a:xfrm>
          <a:prstGeom prst="rect">
            <a:avLst/>
          </a:prstGeom>
        </p:spPr>
        <p:txBody>
          <a:bodyPr wrap="square" lIns="0" tIns="0" rIns="0" bIns="0" rtlCol="0" anchor="t">
            <a:spAutoFit/>
          </a:bodyPr>
          <a:lstStyle/>
          <a:p>
            <a:pPr algn="l">
              <a:lnSpc>
                <a:spcPts val="2749"/>
              </a:lnSpc>
            </a:pPr>
            <a:r>
              <a:rPr lang="en-US" sz="1687" dirty="0">
                <a:solidFill>
                  <a:srgbClr val="A95B95"/>
                </a:solidFill>
                <a:latin typeface="Mukta Light"/>
                <a:ea typeface="Mukta Light"/>
                <a:cs typeface="Mukta Light"/>
                <a:sym typeface="Mukta Light"/>
              </a:rPr>
              <a:t>DATA FOUNDATION</a:t>
            </a:r>
          </a:p>
        </p:txBody>
      </p:sp>
      <p:sp>
        <p:nvSpPr>
          <p:cNvPr id="9" name="TextBox 9"/>
          <p:cNvSpPr txBox="1"/>
          <p:nvPr/>
        </p:nvSpPr>
        <p:spPr>
          <a:xfrm>
            <a:off x="1101328" y="1531734"/>
            <a:ext cx="9544050" cy="793547"/>
          </a:xfrm>
          <a:prstGeom prst="rect">
            <a:avLst/>
          </a:prstGeom>
        </p:spPr>
        <p:txBody>
          <a:bodyPr lIns="0" tIns="0" rIns="0" bIns="0" rtlCol="0" anchor="t">
            <a:spAutoFit/>
          </a:bodyPr>
          <a:lstStyle/>
          <a:p>
            <a:pPr algn="l">
              <a:lnSpc>
                <a:spcPts val="6000"/>
              </a:lnSpc>
            </a:pPr>
            <a:r>
              <a:rPr lang="en-US" sz="4812" b="1">
                <a:solidFill>
                  <a:srgbClr val="C6BFEE"/>
                </a:solidFill>
                <a:latin typeface="Prompt Medium"/>
                <a:ea typeface="Prompt Medium"/>
                <a:cs typeface="Prompt Medium"/>
                <a:sym typeface="Prompt Medium"/>
              </a:rPr>
              <a:t>Data Overview &amp; Preprocessing</a:t>
            </a:r>
          </a:p>
        </p:txBody>
      </p:sp>
      <p:sp>
        <p:nvSpPr>
          <p:cNvPr id="10" name="TextBox 10"/>
          <p:cNvSpPr txBox="1"/>
          <p:nvPr/>
        </p:nvSpPr>
        <p:spPr>
          <a:xfrm>
            <a:off x="1129903" y="2952694"/>
            <a:ext cx="16085344" cy="957262"/>
          </a:xfrm>
          <a:prstGeom prst="rect">
            <a:avLst/>
          </a:prstGeom>
        </p:spPr>
        <p:txBody>
          <a:bodyPr lIns="0" tIns="0" rIns="0" bIns="0" rtlCol="0" anchor="t">
            <a:spAutoFit/>
          </a:bodyPr>
          <a:lstStyle/>
          <a:p>
            <a:pPr algn="l">
              <a:lnSpc>
                <a:spcPts val="3437"/>
              </a:lnSpc>
            </a:pPr>
            <a:r>
              <a:rPr lang="en-US" sz="2125" dirty="0">
                <a:solidFill>
                  <a:srgbClr val="DAD8E9"/>
                </a:solidFill>
                <a:latin typeface="Mukta Light"/>
                <a:ea typeface="Mukta Light"/>
                <a:cs typeface="Mukta Light"/>
                <a:sym typeface="Mukta Light"/>
              </a:rPr>
              <a:t>The dataset comprises several dimensions including academic history, socio-economic factors, and behavioral habits. Our preprocessing pipeline ensured data quality and prepared features for machine learning analysis.</a:t>
            </a:r>
          </a:p>
        </p:txBody>
      </p:sp>
      <p:grpSp>
        <p:nvGrpSpPr>
          <p:cNvPr id="11" name="Group 11"/>
          <p:cNvGrpSpPr/>
          <p:nvPr/>
        </p:nvGrpSpPr>
        <p:grpSpPr>
          <a:xfrm>
            <a:off x="1096566" y="3924300"/>
            <a:ext cx="7914532" cy="5453805"/>
            <a:chOff x="0" y="0"/>
            <a:chExt cx="10552709" cy="7271741"/>
          </a:xfrm>
        </p:grpSpPr>
        <p:sp>
          <p:nvSpPr>
            <p:cNvPr id="12" name="Freeform 12"/>
            <p:cNvSpPr/>
            <p:nvPr/>
          </p:nvSpPr>
          <p:spPr>
            <a:xfrm>
              <a:off x="6350" y="6350"/>
              <a:ext cx="10539985" cy="7259066"/>
            </a:xfrm>
            <a:custGeom>
              <a:avLst/>
              <a:gdLst/>
              <a:ahLst/>
              <a:cxnLst/>
              <a:rect l="l" t="t" r="r" b="b"/>
              <a:pathLst>
                <a:path w="10539985" h="7259066">
                  <a:moveTo>
                    <a:pt x="0" y="154178"/>
                  </a:moveTo>
                  <a:cubicBezTo>
                    <a:pt x="0" y="69088"/>
                    <a:pt x="69088" y="0"/>
                    <a:pt x="154305" y="0"/>
                  </a:cubicBezTo>
                  <a:lnTo>
                    <a:pt x="10385679" y="0"/>
                  </a:lnTo>
                  <a:cubicBezTo>
                    <a:pt x="10470897" y="0"/>
                    <a:pt x="10539985" y="69088"/>
                    <a:pt x="10539985" y="154178"/>
                  </a:cubicBezTo>
                  <a:lnTo>
                    <a:pt x="10539985" y="7104888"/>
                  </a:lnTo>
                  <a:cubicBezTo>
                    <a:pt x="10539985" y="7189978"/>
                    <a:pt x="10470897" y="7259066"/>
                    <a:pt x="10385679" y="7259066"/>
                  </a:cubicBezTo>
                  <a:lnTo>
                    <a:pt x="154305" y="7259066"/>
                  </a:lnTo>
                  <a:cubicBezTo>
                    <a:pt x="69088" y="7259066"/>
                    <a:pt x="0" y="7189978"/>
                    <a:pt x="0" y="7104888"/>
                  </a:cubicBezTo>
                  <a:close/>
                </a:path>
              </a:pathLst>
            </a:custGeom>
            <a:solidFill>
              <a:srgbClr val="542C49"/>
            </a:solidFill>
          </p:spPr>
        </p:sp>
        <p:sp>
          <p:nvSpPr>
            <p:cNvPr id="13" name="Freeform 13"/>
            <p:cNvSpPr/>
            <p:nvPr/>
          </p:nvSpPr>
          <p:spPr>
            <a:xfrm>
              <a:off x="0" y="0"/>
              <a:ext cx="10552685" cy="7271766"/>
            </a:xfrm>
            <a:custGeom>
              <a:avLst/>
              <a:gdLst/>
              <a:ahLst/>
              <a:cxnLst/>
              <a:rect l="l" t="t" r="r" b="b"/>
              <a:pathLst>
                <a:path w="10552685" h="7271766">
                  <a:moveTo>
                    <a:pt x="0" y="160528"/>
                  </a:moveTo>
                  <a:cubicBezTo>
                    <a:pt x="0" y="71882"/>
                    <a:pt x="71882" y="0"/>
                    <a:pt x="160655" y="0"/>
                  </a:cubicBezTo>
                  <a:lnTo>
                    <a:pt x="10392029" y="0"/>
                  </a:lnTo>
                  <a:lnTo>
                    <a:pt x="10392029" y="6350"/>
                  </a:lnTo>
                  <a:lnTo>
                    <a:pt x="10392029" y="0"/>
                  </a:lnTo>
                  <a:cubicBezTo>
                    <a:pt x="10480675" y="0"/>
                    <a:pt x="10552685" y="71882"/>
                    <a:pt x="10552685" y="160528"/>
                  </a:cubicBezTo>
                  <a:lnTo>
                    <a:pt x="10546335" y="160528"/>
                  </a:lnTo>
                  <a:lnTo>
                    <a:pt x="10552685" y="160528"/>
                  </a:lnTo>
                  <a:lnTo>
                    <a:pt x="10552685" y="7111238"/>
                  </a:lnTo>
                  <a:lnTo>
                    <a:pt x="10546335" y="7111238"/>
                  </a:lnTo>
                  <a:lnTo>
                    <a:pt x="10552685" y="7111238"/>
                  </a:lnTo>
                  <a:cubicBezTo>
                    <a:pt x="10552685" y="7199884"/>
                    <a:pt x="10480802" y="7271766"/>
                    <a:pt x="10392029" y="7271766"/>
                  </a:cubicBezTo>
                  <a:lnTo>
                    <a:pt x="10392029" y="7265416"/>
                  </a:lnTo>
                  <a:lnTo>
                    <a:pt x="10392029" y="7271766"/>
                  </a:lnTo>
                  <a:lnTo>
                    <a:pt x="160655" y="7271766"/>
                  </a:lnTo>
                  <a:lnTo>
                    <a:pt x="160655" y="7265416"/>
                  </a:lnTo>
                  <a:lnTo>
                    <a:pt x="160655" y="7271766"/>
                  </a:lnTo>
                  <a:cubicBezTo>
                    <a:pt x="71882" y="7271766"/>
                    <a:pt x="0" y="7199884"/>
                    <a:pt x="0" y="7111238"/>
                  </a:cubicBezTo>
                  <a:lnTo>
                    <a:pt x="0" y="160528"/>
                  </a:lnTo>
                  <a:lnTo>
                    <a:pt x="6350" y="160528"/>
                  </a:lnTo>
                  <a:lnTo>
                    <a:pt x="0" y="160528"/>
                  </a:lnTo>
                  <a:moveTo>
                    <a:pt x="12700" y="160528"/>
                  </a:moveTo>
                  <a:lnTo>
                    <a:pt x="12700" y="7111238"/>
                  </a:lnTo>
                  <a:lnTo>
                    <a:pt x="6350" y="7111238"/>
                  </a:lnTo>
                  <a:lnTo>
                    <a:pt x="12700" y="7111238"/>
                  </a:lnTo>
                  <a:cubicBezTo>
                    <a:pt x="12700" y="7192899"/>
                    <a:pt x="78867" y="7259066"/>
                    <a:pt x="160655" y="7259066"/>
                  </a:cubicBezTo>
                  <a:lnTo>
                    <a:pt x="10392029" y="7259066"/>
                  </a:lnTo>
                  <a:cubicBezTo>
                    <a:pt x="10473690" y="7259066"/>
                    <a:pt x="10539985" y="7192899"/>
                    <a:pt x="10539985" y="7111238"/>
                  </a:cubicBezTo>
                  <a:lnTo>
                    <a:pt x="10539985" y="160528"/>
                  </a:lnTo>
                  <a:cubicBezTo>
                    <a:pt x="10539984" y="78867"/>
                    <a:pt x="10473817" y="12700"/>
                    <a:pt x="10392029" y="12700"/>
                  </a:cubicBezTo>
                  <a:lnTo>
                    <a:pt x="160655" y="12700"/>
                  </a:lnTo>
                  <a:lnTo>
                    <a:pt x="160655" y="6350"/>
                  </a:lnTo>
                  <a:lnTo>
                    <a:pt x="160655" y="12700"/>
                  </a:lnTo>
                  <a:cubicBezTo>
                    <a:pt x="78867" y="12700"/>
                    <a:pt x="12700" y="78867"/>
                    <a:pt x="12700" y="160528"/>
                  </a:cubicBezTo>
                  <a:close/>
                </a:path>
              </a:pathLst>
            </a:custGeom>
            <a:solidFill>
              <a:srgbClr val="6D4562"/>
            </a:solidFill>
          </p:spPr>
        </p:sp>
      </p:grpSp>
      <p:sp>
        <p:nvSpPr>
          <p:cNvPr id="14" name="TextBox 14"/>
          <p:cNvSpPr txBox="1"/>
          <p:nvPr/>
        </p:nvSpPr>
        <p:spPr>
          <a:xfrm>
            <a:off x="1386183" y="4194867"/>
            <a:ext cx="3059611" cy="401536"/>
          </a:xfrm>
          <a:prstGeom prst="rect">
            <a:avLst/>
          </a:prstGeom>
        </p:spPr>
        <p:txBody>
          <a:bodyPr lIns="0" tIns="0" rIns="0" bIns="0" rtlCol="0" anchor="t">
            <a:spAutoFit/>
          </a:bodyPr>
          <a:lstStyle/>
          <a:p>
            <a:pPr algn="l">
              <a:lnSpc>
                <a:spcPts val="3000"/>
              </a:lnSpc>
            </a:pPr>
            <a:r>
              <a:rPr lang="en-US" sz="2375" b="1">
                <a:solidFill>
                  <a:srgbClr val="DAD8E9"/>
                </a:solidFill>
                <a:latin typeface="Prompt Medium"/>
                <a:ea typeface="Prompt Medium"/>
                <a:cs typeface="Prompt Medium"/>
                <a:sym typeface="Prompt Medium"/>
              </a:rPr>
              <a:t>Feature Engineering</a:t>
            </a:r>
          </a:p>
        </p:txBody>
      </p:sp>
      <p:sp>
        <p:nvSpPr>
          <p:cNvPr id="15" name="TextBox 15"/>
          <p:cNvSpPr txBox="1"/>
          <p:nvPr/>
        </p:nvSpPr>
        <p:spPr>
          <a:xfrm>
            <a:off x="1386183" y="4685405"/>
            <a:ext cx="7335288" cy="516731"/>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The analysis focused on numerical features for clustering:</a:t>
            </a:r>
          </a:p>
        </p:txBody>
      </p:sp>
      <p:grpSp>
        <p:nvGrpSpPr>
          <p:cNvPr id="16" name="Group 16"/>
          <p:cNvGrpSpPr/>
          <p:nvPr/>
        </p:nvGrpSpPr>
        <p:grpSpPr>
          <a:xfrm>
            <a:off x="1386183" y="5550541"/>
            <a:ext cx="7335288" cy="928097"/>
            <a:chOff x="0" y="0"/>
            <a:chExt cx="9780384" cy="1237463"/>
          </a:xfrm>
        </p:grpSpPr>
        <p:sp>
          <p:nvSpPr>
            <p:cNvPr id="17" name="Freeform 17" descr="preencoded.png"/>
            <p:cNvSpPr/>
            <p:nvPr/>
          </p:nvSpPr>
          <p:spPr>
            <a:xfrm>
              <a:off x="0" y="0"/>
              <a:ext cx="9780397" cy="1237488"/>
            </a:xfrm>
            <a:custGeom>
              <a:avLst/>
              <a:gdLst/>
              <a:ahLst/>
              <a:cxnLst/>
              <a:rect l="l" t="t" r="r" b="b"/>
              <a:pathLst>
                <a:path w="9780397" h="1237488">
                  <a:moveTo>
                    <a:pt x="0" y="0"/>
                  </a:moveTo>
                  <a:lnTo>
                    <a:pt x="9780397" y="0"/>
                  </a:lnTo>
                  <a:lnTo>
                    <a:pt x="9780397" y="1237488"/>
                  </a:lnTo>
                  <a:lnTo>
                    <a:pt x="0" y="1237488"/>
                  </a:lnTo>
                  <a:lnTo>
                    <a:pt x="0" y="0"/>
                  </a:lnTo>
                  <a:close/>
                </a:path>
              </a:pathLst>
            </a:custGeom>
            <a:blipFill>
              <a:blip r:embed="rId3"/>
              <a:stretch>
                <a:fillRect t="-230" b="-227"/>
              </a:stretch>
            </a:blipFill>
          </p:spPr>
        </p:sp>
      </p:grpSp>
      <p:sp>
        <p:nvSpPr>
          <p:cNvPr id="18" name="TextBox 18"/>
          <p:cNvSpPr txBox="1"/>
          <p:nvPr/>
        </p:nvSpPr>
        <p:spPr>
          <a:xfrm>
            <a:off x="1386183" y="6750844"/>
            <a:ext cx="7335288" cy="957262"/>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These seven dimensions capture the multifaceted nature of student performance.</a:t>
            </a:r>
          </a:p>
        </p:txBody>
      </p:sp>
      <p:grpSp>
        <p:nvGrpSpPr>
          <p:cNvPr id="19" name="Group 19"/>
          <p:cNvGrpSpPr/>
          <p:nvPr/>
        </p:nvGrpSpPr>
        <p:grpSpPr>
          <a:xfrm>
            <a:off x="9276902" y="3924300"/>
            <a:ext cx="7914532" cy="5453805"/>
            <a:chOff x="0" y="0"/>
            <a:chExt cx="10552709" cy="7271741"/>
          </a:xfrm>
        </p:grpSpPr>
        <p:sp>
          <p:nvSpPr>
            <p:cNvPr id="20" name="Freeform 20"/>
            <p:cNvSpPr/>
            <p:nvPr/>
          </p:nvSpPr>
          <p:spPr>
            <a:xfrm>
              <a:off x="6350" y="6350"/>
              <a:ext cx="10539985" cy="7259066"/>
            </a:xfrm>
            <a:custGeom>
              <a:avLst/>
              <a:gdLst/>
              <a:ahLst/>
              <a:cxnLst/>
              <a:rect l="l" t="t" r="r" b="b"/>
              <a:pathLst>
                <a:path w="10539985" h="7259066">
                  <a:moveTo>
                    <a:pt x="0" y="154178"/>
                  </a:moveTo>
                  <a:cubicBezTo>
                    <a:pt x="0" y="69088"/>
                    <a:pt x="69088" y="0"/>
                    <a:pt x="154305" y="0"/>
                  </a:cubicBezTo>
                  <a:lnTo>
                    <a:pt x="10385679" y="0"/>
                  </a:lnTo>
                  <a:cubicBezTo>
                    <a:pt x="10470897" y="0"/>
                    <a:pt x="10539985" y="69088"/>
                    <a:pt x="10539985" y="154178"/>
                  </a:cubicBezTo>
                  <a:lnTo>
                    <a:pt x="10539985" y="7104888"/>
                  </a:lnTo>
                  <a:cubicBezTo>
                    <a:pt x="10539985" y="7189978"/>
                    <a:pt x="10470897" y="7259066"/>
                    <a:pt x="10385679" y="7259066"/>
                  </a:cubicBezTo>
                  <a:lnTo>
                    <a:pt x="154305" y="7259066"/>
                  </a:lnTo>
                  <a:cubicBezTo>
                    <a:pt x="69088" y="7259066"/>
                    <a:pt x="0" y="7189978"/>
                    <a:pt x="0" y="7104888"/>
                  </a:cubicBezTo>
                  <a:close/>
                </a:path>
              </a:pathLst>
            </a:custGeom>
            <a:solidFill>
              <a:srgbClr val="542C49"/>
            </a:solidFill>
          </p:spPr>
        </p:sp>
        <p:sp>
          <p:nvSpPr>
            <p:cNvPr id="21" name="Freeform 21"/>
            <p:cNvSpPr/>
            <p:nvPr/>
          </p:nvSpPr>
          <p:spPr>
            <a:xfrm>
              <a:off x="0" y="0"/>
              <a:ext cx="10552685" cy="7271766"/>
            </a:xfrm>
            <a:custGeom>
              <a:avLst/>
              <a:gdLst/>
              <a:ahLst/>
              <a:cxnLst/>
              <a:rect l="l" t="t" r="r" b="b"/>
              <a:pathLst>
                <a:path w="10552685" h="7271766">
                  <a:moveTo>
                    <a:pt x="0" y="160528"/>
                  </a:moveTo>
                  <a:cubicBezTo>
                    <a:pt x="0" y="71882"/>
                    <a:pt x="71882" y="0"/>
                    <a:pt x="160655" y="0"/>
                  </a:cubicBezTo>
                  <a:lnTo>
                    <a:pt x="10392029" y="0"/>
                  </a:lnTo>
                  <a:lnTo>
                    <a:pt x="10392029" y="6350"/>
                  </a:lnTo>
                  <a:lnTo>
                    <a:pt x="10392029" y="0"/>
                  </a:lnTo>
                  <a:cubicBezTo>
                    <a:pt x="10480675" y="0"/>
                    <a:pt x="10552685" y="71882"/>
                    <a:pt x="10552685" y="160528"/>
                  </a:cubicBezTo>
                  <a:lnTo>
                    <a:pt x="10546335" y="160528"/>
                  </a:lnTo>
                  <a:lnTo>
                    <a:pt x="10552685" y="160528"/>
                  </a:lnTo>
                  <a:lnTo>
                    <a:pt x="10552685" y="7111238"/>
                  </a:lnTo>
                  <a:lnTo>
                    <a:pt x="10546335" y="7111238"/>
                  </a:lnTo>
                  <a:lnTo>
                    <a:pt x="10552685" y="7111238"/>
                  </a:lnTo>
                  <a:cubicBezTo>
                    <a:pt x="10552685" y="7199884"/>
                    <a:pt x="10480802" y="7271766"/>
                    <a:pt x="10392029" y="7271766"/>
                  </a:cubicBezTo>
                  <a:lnTo>
                    <a:pt x="10392029" y="7265416"/>
                  </a:lnTo>
                  <a:lnTo>
                    <a:pt x="10392029" y="7271766"/>
                  </a:lnTo>
                  <a:lnTo>
                    <a:pt x="160655" y="7271766"/>
                  </a:lnTo>
                  <a:lnTo>
                    <a:pt x="160655" y="7265416"/>
                  </a:lnTo>
                  <a:lnTo>
                    <a:pt x="160655" y="7271766"/>
                  </a:lnTo>
                  <a:cubicBezTo>
                    <a:pt x="71882" y="7271766"/>
                    <a:pt x="0" y="7199884"/>
                    <a:pt x="0" y="7111238"/>
                  </a:cubicBezTo>
                  <a:lnTo>
                    <a:pt x="0" y="160528"/>
                  </a:lnTo>
                  <a:lnTo>
                    <a:pt x="6350" y="160528"/>
                  </a:lnTo>
                  <a:lnTo>
                    <a:pt x="0" y="160528"/>
                  </a:lnTo>
                  <a:moveTo>
                    <a:pt x="12700" y="160528"/>
                  </a:moveTo>
                  <a:lnTo>
                    <a:pt x="12700" y="7111238"/>
                  </a:lnTo>
                  <a:lnTo>
                    <a:pt x="6350" y="7111238"/>
                  </a:lnTo>
                  <a:lnTo>
                    <a:pt x="12700" y="7111238"/>
                  </a:lnTo>
                  <a:cubicBezTo>
                    <a:pt x="12700" y="7192899"/>
                    <a:pt x="78867" y="7259066"/>
                    <a:pt x="160655" y="7259066"/>
                  </a:cubicBezTo>
                  <a:lnTo>
                    <a:pt x="10392029" y="7259066"/>
                  </a:lnTo>
                  <a:cubicBezTo>
                    <a:pt x="10473690" y="7259066"/>
                    <a:pt x="10539985" y="7192899"/>
                    <a:pt x="10539985" y="7111238"/>
                  </a:cubicBezTo>
                  <a:lnTo>
                    <a:pt x="10539985" y="160528"/>
                  </a:lnTo>
                  <a:cubicBezTo>
                    <a:pt x="10539984" y="78867"/>
                    <a:pt x="10473817" y="12700"/>
                    <a:pt x="10392029" y="12700"/>
                  </a:cubicBezTo>
                  <a:lnTo>
                    <a:pt x="160655" y="12700"/>
                  </a:lnTo>
                  <a:lnTo>
                    <a:pt x="160655" y="6350"/>
                  </a:lnTo>
                  <a:lnTo>
                    <a:pt x="160655" y="12700"/>
                  </a:lnTo>
                  <a:cubicBezTo>
                    <a:pt x="78867" y="12700"/>
                    <a:pt x="12700" y="78867"/>
                    <a:pt x="12700" y="160528"/>
                  </a:cubicBezTo>
                  <a:close/>
                </a:path>
              </a:pathLst>
            </a:custGeom>
            <a:solidFill>
              <a:srgbClr val="6D4562"/>
            </a:solidFill>
          </p:spPr>
        </p:sp>
      </p:grpSp>
      <p:sp>
        <p:nvSpPr>
          <p:cNvPr id="22" name="TextBox 22"/>
          <p:cNvSpPr txBox="1"/>
          <p:nvPr/>
        </p:nvSpPr>
        <p:spPr>
          <a:xfrm>
            <a:off x="9566519" y="4194867"/>
            <a:ext cx="3059611" cy="401536"/>
          </a:xfrm>
          <a:prstGeom prst="rect">
            <a:avLst/>
          </a:prstGeom>
        </p:spPr>
        <p:txBody>
          <a:bodyPr lIns="0" tIns="0" rIns="0" bIns="0" rtlCol="0" anchor="t">
            <a:spAutoFit/>
          </a:bodyPr>
          <a:lstStyle/>
          <a:p>
            <a:pPr algn="l">
              <a:lnSpc>
                <a:spcPts val="3000"/>
              </a:lnSpc>
            </a:pPr>
            <a:r>
              <a:rPr lang="en-US" sz="2375" b="1">
                <a:solidFill>
                  <a:srgbClr val="DAD8E9"/>
                </a:solidFill>
                <a:latin typeface="Prompt Medium"/>
                <a:ea typeface="Prompt Medium"/>
                <a:cs typeface="Prompt Medium"/>
                <a:sym typeface="Prompt Medium"/>
              </a:rPr>
              <a:t>Data Cleaning</a:t>
            </a:r>
          </a:p>
        </p:txBody>
      </p:sp>
      <p:sp>
        <p:nvSpPr>
          <p:cNvPr id="23" name="TextBox 23"/>
          <p:cNvSpPr txBox="1"/>
          <p:nvPr/>
        </p:nvSpPr>
        <p:spPr>
          <a:xfrm>
            <a:off x="9566519" y="4685405"/>
            <a:ext cx="7335288" cy="1397794"/>
          </a:xfrm>
          <a:prstGeom prst="rect">
            <a:avLst/>
          </a:prstGeom>
        </p:spPr>
        <p:txBody>
          <a:bodyPr lIns="0" tIns="0" rIns="0" bIns="0" rtlCol="0" anchor="t">
            <a:spAutoFit/>
          </a:bodyPr>
          <a:lstStyle/>
          <a:p>
            <a:pPr algn="l">
              <a:lnSpc>
                <a:spcPts val="3437"/>
              </a:lnSpc>
            </a:pPr>
            <a:r>
              <a:rPr lang="en-US" sz="2125" b="1">
                <a:solidFill>
                  <a:srgbClr val="DAD8E9"/>
                </a:solidFill>
                <a:latin typeface="Mukta Bold"/>
                <a:ea typeface="Mukta Bold"/>
                <a:cs typeface="Mukta Bold"/>
                <a:sym typeface="Mukta Bold"/>
              </a:rPr>
              <a:t>Missing Values:</a:t>
            </a:r>
            <a:r>
              <a:rPr lang="en-US" sz="2125">
                <a:solidFill>
                  <a:srgbClr val="DAD8E9"/>
                </a:solidFill>
                <a:latin typeface="Mukta Light"/>
                <a:ea typeface="Mukta Light"/>
                <a:cs typeface="Mukta Light"/>
                <a:sym typeface="Mukta Light"/>
              </a:rPr>
              <a:t> Imputed categorical variables (Teacher Quality, Parental Education Level, Distance from Home) using the mode to maintain data integrity.</a:t>
            </a:r>
          </a:p>
        </p:txBody>
      </p:sp>
      <p:sp>
        <p:nvSpPr>
          <p:cNvPr id="24" name="TextBox 24"/>
          <p:cNvSpPr txBox="1"/>
          <p:nvPr/>
        </p:nvSpPr>
        <p:spPr>
          <a:xfrm>
            <a:off x="9566519" y="6172200"/>
            <a:ext cx="7335288" cy="1838325"/>
          </a:xfrm>
          <a:prstGeom prst="rect">
            <a:avLst/>
          </a:prstGeom>
        </p:spPr>
        <p:txBody>
          <a:bodyPr lIns="0" tIns="0" rIns="0" bIns="0" rtlCol="0" anchor="t">
            <a:spAutoFit/>
          </a:bodyPr>
          <a:lstStyle/>
          <a:p>
            <a:pPr algn="l">
              <a:lnSpc>
                <a:spcPts val="3437"/>
              </a:lnSpc>
            </a:pPr>
            <a:r>
              <a:rPr lang="en-US" sz="2125" b="1">
                <a:solidFill>
                  <a:srgbClr val="DAD8E9"/>
                </a:solidFill>
                <a:latin typeface="Mukta Bold"/>
                <a:ea typeface="Mukta Bold"/>
                <a:cs typeface="Mukta Bold"/>
                <a:sym typeface="Mukta Bold"/>
              </a:rPr>
              <a:t>Scaling:</a:t>
            </a:r>
            <a:r>
              <a:rPr lang="en-US" sz="2125">
                <a:solidFill>
                  <a:srgbClr val="DAD8E9"/>
                </a:solidFill>
                <a:latin typeface="Mukta Light"/>
                <a:ea typeface="Mukta Light"/>
                <a:cs typeface="Mukta Light"/>
                <a:sym typeface="Mukta Light"/>
              </a:rPr>
              <a:t> Applied StandardScaler to normalize features, ensuring each had a mean </a:t>
            </a:r>
            <a:r>
              <a:rPr lang="en-US" sz="2125" i="1">
                <a:solidFill>
                  <a:srgbClr val="DAD8E9"/>
                </a:solidFill>
                <a:latin typeface="Mukta Light"/>
                <a:ea typeface="Mukta Light"/>
                <a:cs typeface="Mukta Light"/>
                <a:sym typeface="Mukta Light"/>
              </a:rPr>
              <a:t>\mu = 0</a:t>
            </a:r>
            <a:r>
              <a:rPr lang="en-US" sz="2125">
                <a:solidFill>
                  <a:srgbClr val="DAD8E9"/>
                </a:solidFill>
                <a:latin typeface="Mukta Light"/>
                <a:ea typeface="Mukta Light"/>
                <a:cs typeface="Mukta Light"/>
                <a:sym typeface="Mukta Light"/>
              </a:rPr>
              <a:t> and standard deviation </a:t>
            </a:r>
            <a:r>
              <a:rPr lang="en-US" sz="2125" i="1">
                <a:solidFill>
                  <a:srgbClr val="DAD8E9"/>
                </a:solidFill>
                <a:latin typeface="Mukta Light"/>
                <a:ea typeface="Mukta Light"/>
                <a:cs typeface="Mukta Light"/>
                <a:sym typeface="Mukta Light"/>
              </a:rPr>
              <a:t>\sigma = 1</a:t>
            </a:r>
            <a:r>
              <a:rPr lang="en-US" sz="2125">
                <a:solidFill>
                  <a:srgbClr val="DAD8E9"/>
                </a:solidFill>
                <a:latin typeface="Mukta Light"/>
                <a:ea typeface="Mukta Light"/>
                <a:cs typeface="Mukta Light"/>
                <a:sym typeface="Mukta Light"/>
              </a:rPr>
              <a:t>. This normalization is essential for distance-based algorithms like K-Means.</a:t>
            </a:r>
          </a:p>
        </p:txBody>
      </p:sp>
      <p:grpSp>
        <p:nvGrpSpPr>
          <p:cNvPr id="25" name="Group 25"/>
          <p:cNvGrpSpPr/>
          <p:nvPr/>
        </p:nvGrpSpPr>
        <p:grpSpPr>
          <a:xfrm>
            <a:off x="9566519" y="8358930"/>
            <a:ext cx="7335288" cy="729558"/>
            <a:chOff x="0" y="0"/>
            <a:chExt cx="9780384" cy="972744"/>
          </a:xfrm>
        </p:grpSpPr>
        <p:sp>
          <p:nvSpPr>
            <p:cNvPr id="26" name="Freeform 26" descr="preencoded.png"/>
            <p:cNvSpPr/>
            <p:nvPr/>
          </p:nvSpPr>
          <p:spPr>
            <a:xfrm>
              <a:off x="0" y="0"/>
              <a:ext cx="9780397" cy="972693"/>
            </a:xfrm>
            <a:custGeom>
              <a:avLst/>
              <a:gdLst/>
              <a:ahLst/>
              <a:cxnLst/>
              <a:rect l="l" t="t" r="r" b="b"/>
              <a:pathLst>
                <a:path w="9780397" h="972693">
                  <a:moveTo>
                    <a:pt x="0" y="0"/>
                  </a:moveTo>
                  <a:lnTo>
                    <a:pt x="9780397" y="0"/>
                  </a:lnTo>
                  <a:lnTo>
                    <a:pt x="9780397" y="972693"/>
                  </a:lnTo>
                  <a:lnTo>
                    <a:pt x="0" y="972693"/>
                  </a:lnTo>
                  <a:lnTo>
                    <a:pt x="0" y="0"/>
                  </a:lnTo>
                  <a:close/>
                </a:path>
              </a:pathLst>
            </a:custGeom>
            <a:blipFill>
              <a:blip r:embed="rId4"/>
              <a:stretch>
                <a:fillRect t="-207" b="-211"/>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411786" y="1069334"/>
            <a:ext cx="1202684" cy="386353"/>
            <a:chOff x="0" y="0"/>
            <a:chExt cx="1603578" cy="515137"/>
          </a:xfrm>
        </p:grpSpPr>
        <p:sp>
          <p:nvSpPr>
            <p:cNvPr id="7" name="Freeform 7"/>
            <p:cNvSpPr/>
            <p:nvPr/>
          </p:nvSpPr>
          <p:spPr>
            <a:xfrm>
              <a:off x="0" y="0"/>
              <a:ext cx="1603502" cy="515112"/>
            </a:xfrm>
            <a:custGeom>
              <a:avLst/>
              <a:gdLst/>
              <a:ahLst/>
              <a:cxnLst/>
              <a:rect l="l" t="t" r="r" b="b"/>
              <a:pathLst>
                <a:path w="1603502" h="515112">
                  <a:moveTo>
                    <a:pt x="0" y="98806"/>
                  </a:moveTo>
                  <a:cubicBezTo>
                    <a:pt x="0" y="44196"/>
                    <a:pt x="44196" y="0"/>
                    <a:pt x="98806" y="0"/>
                  </a:cubicBezTo>
                  <a:lnTo>
                    <a:pt x="1504696" y="0"/>
                  </a:lnTo>
                  <a:cubicBezTo>
                    <a:pt x="1559306" y="0"/>
                    <a:pt x="1603502" y="44196"/>
                    <a:pt x="1603502" y="98806"/>
                  </a:cubicBezTo>
                  <a:lnTo>
                    <a:pt x="1603502" y="416306"/>
                  </a:lnTo>
                  <a:cubicBezTo>
                    <a:pt x="1603502" y="470916"/>
                    <a:pt x="1559306" y="515112"/>
                    <a:pt x="1504696" y="515112"/>
                  </a:cubicBezTo>
                  <a:lnTo>
                    <a:pt x="98806" y="515112"/>
                  </a:lnTo>
                  <a:cubicBezTo>
                    <a:pt x="44196" y="515112"/>
                    <a:pt x="0" y="470916"/>
                    <a:pt x="0" y="416306"/>
                  </a:cubicBezTo>
                  <a:close/>
                </a:path>
              </a:pathLst>
            </a:custGeom>
            <a:solidFill>
              <a:srgbClr val="321A2C"/>
            </a:solidFill>
          </p:spPr>
        </p:sp>
      </p:grpSp>
      <p:sp>
        <p:nvSpPr>
          <p:cNvPr id="8" name="Freeform 8" descr="preencoded.png"/>
          <p:cNvSpPr/>
          <p:nvPr/>
        </p:nvSpPr>
        <p:spPr>
          <a:xfrm>
            <a:off x="1544088" y="1174252"/>
            <a:ext cx="176365" cy="176365"/>
          </a:xfrm>
          <a:custGeom>
            <a:avLst/>
            <a:gdLst/>
            <a:ahLst/>
            <a:cxnLst/>
            <a:rect l="l" t="t" r="r" b="b"/>
            <a:pathLst>
              <a:path w="176365" h="176365">
                <a:moveTo>
                  <a:pt x="0" y="0"/>
                </a:moveTo>
                <a:lnTo>
                  <a:pt x="176365" y="0"/>
                </a:lnTo>
                <a:lnTo>
                  <a:pt x="176365" y="176364"/>
                </a:lnTo>
                <a:lnTo>
                  <a:pt x="0" y="176364"/>
                </a:lnTo>
                <a:lnTo>
                  <a:pt x="0" y="0"/>
                </a:lnTo>
                <a:close/>
              </a:path>
            </a:pathLst>
          </a:custGeom>
          <a:blipFill>
            <a:blip r:embed="rId3">
              <a:extLst>
                <a:ext uri="{96DAC541-7B7A-43D3-8B79-37D633B846F1}">
                  <asvg:svgBlip xmlns:asvg="http://schemas.microsoft.com/office/drawing/2016/SVG/main" r:embed="rId4"/>
                </a:ext>
              </a:extLst>
            </a:blip>
            <a:stretch>
              <a:fillRect l="-5265" r="-5260"/>
            </a:stretch>
          </a:blipFill>
        </p:spPr>
      </p:sp>
      <p:sp>
        <p:nvSpPr>
          <p:cNvPr id="9" name="TextBox 9"/>
          <p:cNvSpPr txBox="1"/>
          <p:nvPr/>
        </p:nvSpPr>
        <p:spPr>
          <a:xfrm>
            <a:off x="1808559" y="1097309"/>
            <a:ext cx="673598" cy="292303"/>
          </a:xfrm>
          <a:prstGeom prst="rect">
            <a:avLst/>
          </a:prstGeom>
        </p:spPr>
        <p:txBody>
          <a:bodyPr lIns="0" tIns="0" rIns="0" bIns="0" rtlCol="0" anchor="t">
            <a:spAutoFit/>
          </a:bodyPr>
          <a:lstStyle/>
          <a:p>
            <a:pPr algn="l">
              <a:lnSpc>
                <a:spcPts val="2000"/>
              </a:lnSpc>
            </a:pPr>
            <a:r>
              <a:rPr lang="en-US" sz="1375">
                <a:solidFill>
                  <a:srgbClr val="DAD8E9"/>
                </a:solidFill>
                <a:latin typeface="Mukta Light"/>
                <a:ea typeface="Mukta Light"/>
                <a:cs typeface="Mukta Light"/>
                <a:sym typeface="Mukta Light"/>
              </a:rPr>
              <a:t>INSIGHTS</a:t>
            </a:r>
          </a:p>
        </p:txBody>
      </p:sp>
      <p:sp>
        <p:nvSpPr>
          <p:cNvPr id="10" name="TextBox 10"/>
          <p:cNvSpPr txBox="1"/>
          <p:nvPr/>
        </p:nvSpPr>
        <p:spPr>
          <a:xfrm>
            <a:off x="1411786" y="1507331"/>
            <a:ext cx="9463240" cy="631774"/>
          </a:xfrm>
          <a:prstGeom prst="rect">
            <a:avLst/>
          </a:prstGeom>
        </p:spPr>
        <p:txBody>
          <a:bodyPr lIns="0" tIns="0" rIns="0" bIns="0" rtlCol="0" anchor="t">
            <a:spAutoFit/>
          </a:bodyPr>
          <a:lstStyle/>
          <a:p>
            <a:pPr algn="l">
              <a:lnSpc>
                <a:spcPts val="4812"/>
              </a:lnSpc>
            </a:pPr>
            <a:r>
              <a:rPr lang="en-US" sz="3812" b="1">
                <a:solidFill>
                  <a:srgbClr val="C6BFEE"/>
                </a:solidFill>
                <a:latin typeface="Prompt Medium"/>
                <a:ea typeface="Prompt Medium"/>
                <a:cs typeface="Prompt Medium"/>
                <a:sym typeface="Prompt Medium"/>
              </a:rPr>
              <a:t>Key Correlations: What Drives Success?</a:t>
            </a:r>
          </a:p>
        </p:txBody>
      </p:sp>
      <p:sp>
        <p:nvSpPr>
          <p:cNvPr id="11" name="TextBox 11"/>
          <p:cNvSpPr txBox="1"/>
          <p:nvPr/>
        </p:nvSpPr>
        <p:spPr>
          <a:xfrm>
            <a:off x="1411786" y="2583338"/>
            <a:ext cx="15464428" cy="673598"/>
          </a:xfrm>
          <a:prstGeom prst="rect">
            <a:avLst/>
          </a:prstGeom>
        </p:spPr>
        <p:txBody>
          <a:bodyPr lIns="0" tIns="0" rIns="0" bIns="0" rtlCol="0" anchor="t">
            <a:spAutoFit/>
          </a:bodyPr>
          <a:lstStyle/>
          <a:p>
            <a:pPr algn="l">
              <a:lnSpc>
                <a:spcPts val="2499"/>
              </a:lnSpc>
            </a:pPr>
            <a:r>
              <a:rPr lang="en-US" sz="1687" dirty="0">
                <a:solidFill>
                  <a:srgbClr val="DAD8E9"/>
                </a:solidFill>
                <a:latin typeface="Mukta Light"/>
                <a:ea typeface="Mukta Light"/>
                <a:cs typeface="Mukta Light"/>
                <a:sym typeface="Mukta Light"/>
              </a:rPr>
              <a:t>The correlation analysis revealed significant relationships between student habits and academic outcomes. Understanding these connections allows educators to focus interventions on the factors that matter most.</a:t>
            </a:r>
          </a:p>
        </p:txBody>
      </p:sp>
      <p:sp>
        <p:nvSpPr>
          <p:cNvPr id="12" name="TextBox 12"/>
          <p:cNvSpPr txBox="1"/>
          <p:nvPr/>
        </p:nvSpPr>
        <p:spPr>
          <a:xfrm>
            <a:off x="2558653" y="4758033"/>
            <a:ext cx="2713434" cy="465687"/>
          </a:xfrm>
          <a:prstGeom prst="rect">
            <a:avLst/>
          </a:prstGeom>
        </p:spPr>
        <p:txBody>
          <a:bodyPr lIns="0" tIns="0" rIns="0" bIns="0" rtlCol="0" anchor="t">
            <a:spAutoFit/>
          </a:bodyPr>
          <a:lstStyle/>
          <a:p>
            <a:pPr algn="ctr">
              <a:lnSpc>
                <a:spcPts val="4312"/>
              </a:lnSpc>
            </a:pPr>
            <a:r>
              <a:rPr lang="en-US" sz="4312" b="1">
                <a:solidFill>
                  <a:srgbClr val="DAD8E9"/>
                </a:solidFill>
                <a:latin typeface="Prompt Medium"/>
                <a:ea typeface="Prompt Medium"/>
                <a:cs typeface="Prompt Medium"/>
                <a:sym typeface="Prompt Medium"/>
              </a:rPr>
              <a:t>0.58</a:t>
            </a:r>
          </a:p>
        </p:txBody>
      </p:sp>
      <p:grpSp>
        <p:nvGrpSpPr>
          <p:cNvPr id="13" name="Group 13"/>
          <p:cNvGrpSpPr/>
          <p:nvPr/>
        </p:nvGrpSpPr>
        <p:grpSpPr>
          <a:xfrm>
            <a:off x="2260844" y="3293564"/>
            <a:ext cx="3309195" cy="3309195"/>
            <a:chOff x="0" y="0"/>
            <a:chExt cx="4412259" cy="4412259"/>
          </a:xfrm>
        </p:grpSpPr>
        <p:sp>
          <p:nvSpPr>
            <p:cNvPr id="14" name="Freeform 14" descr="preencoded.png"/>
            <p:cNvSpPr/>
            <p:nvPr/>
          </p:nvSpPr>
          <p:spPr>
            <a:xfrm>
              <a:off x="0" y="0"/>
              <a:ext cx="4412234" cy="4412234"/>
            </a:xfrm>
            <a:custGeom>
              <a:avLst/>
              <a:gdLst/>
              <a:ahLst/>
              <a:cxnLst/>
              <a:rect l="l" t="t" r="r" b="b"/>
              <a:pathLst>
                <a:path w="4412234" h="4412234">
                  <a:moveTo>
                    <a:pt x="0" y="0"/>
                  </a:moveTo>
                  <a:lnTo>
                    <a:pt x="4412234" y="0"/>
                  </a:lnTo>
                  <a:lnTo>
                    <a:pt x="4412234" y="4412234"/>
                  </a:lnTo>
                  <a:lnTo>
                    <a:pt x="0" y="4412234"/>
                  </a:lnTo>
                  <a:lnTo>
                    <a:pt x="0" y="0"/>
                  </a:lnTo>
                  <a:close/>
                </a:path>
              </a:pathLst>
            </a:custGeom>
            <a:blipFill>
              <a:blip r:embed="rId5"/>
              <a:stretch>
                <a:fillRect/>
              </a:stretch>
            </a:blipFill>
          </p:spPr>
        </p:sp>
      </p:grpSp>
      <p:sp>
        <p:nvSpPr>
          <p:cNvPr id="15" name="TextBox 15"/>
          <p:cNvSpPr txBox="1"/>
          <p:nvPr/>
        </p:nvSpPr>
        <p:spPr>
          <a:xfrm>
            <a:off x="2291801" y="6824958"/>
            <a:ext cx="3247434" cy="315811"/>
          </a:xfrm>
          <a:prstGeom prst="rect">
            <a:avLst/>
          </a:prstGeom>
        </p:spPr>
        <p:txBody>
          <a:bodyPr lIns="0" tIns="0" rIns="0" bIns="0" rtlCol="0" anchor="t">
            <a:spAutoFit/>
          </a:bodyPr>
          <a:lstStyle/>
          <a:p>
            <a:pPr algn="ctr">
              <a:lnSpc>
                <a:spcPts val="2375"/>
              </a:lnSpc>
            </a:pPr>
            <a:r>
              <a:rPr lang="en-US" sz="1874" b="1">
                <a:solidFill>
                  <a:srgbClr val="DAD8E9"/>
                </a:solidFill>
                <a:latin typeface="Prompt Medium"/>
                <a:ea typeface="Prompt Medium"/>
                <a:cs typeface="Prompt Medium"/>
                <a:sym typeface="Prompt Medium"/>
              </a:rPr>
              <a:t>Attendance vs. Exam Score</a:t>
            </a:r>
          </a:p>
        </p:txBody>
      </p:sp>
      <p:sp>
        <p:nvSpPr>
          <p:cNvPr id="16" name="TextBox 16"/>
          <p:cNvSpPr txBox="1"/>
          <p:nvPr/>
        </p:nvSpPr>
        <p:spPr>
          <a:xfrm>
            <a:off x="1411786" y="7208634"/>
            <a:ext cx="5007473" cy="673598"/>
          </a:xfrm>
          <a:prstGeom prst="rect">
            <a:avLst/>
          </a:prstGeom>
        </p:spPr>
        <p:txBody>
          <a:bodyPr lIns="0" tIns="0" rIns="0" bIns="0" rtlCol="0" anchor="t">
            <a:spAutoFit/>
          </a:bodyPr>
          <a:lstStyle/>
          <a:p>
            <a:pPr algn="ctr">
              <a:lnSpc>
                <a:spcPts val="2499"/>
              </a:lnSpc>
            </a:pPr>
            <a:r>
              <a:rPr lang="en-US" sz="1687">
                <a:solidFill>
                  <a:srgbClr val="DAD8E9"/>
                </a:solidFill>
                <a:latin typeface="Mukta Light"/>
                <a:ea typeface="Mukta Light"/>
                <a:cs typeface="Mukta Light"/>
                <a:sym typeface="Mukta Light"/>
              </a:rPr>
              <a:t>Strong positive correlation — the most powerful predictor of academic success</a:t>
            </a:r>
          </a:p>
        </p:txBody>
      </p:sp>
      <p:sp>
        <p:nvSpPr>
          <p:cNvPr id="17" name="TextBox 17"/>
          <p:cNvSpPr txBox="1"/>
          <p:nvPr/>
        </p:nvSpPr>
        <p:spPr>
          <a:xfrm>
            <a:off x="7787135" y="4758033"/>
            <a:ext cx="2713434" cy="465687"/>
          </a:xfrm>
          <a:prstGeom prst="rect">
            <a:avLst/>
          </a:prstGeom>
        </p:spPr>
        <p:txBody>
          <a:bodyPr lIns="0" tIns="0" rIns="0" bIns="0" rtlCol="0" anchor="t">
            <a:spAutoFit/>
          </a:bodyPr>
          <a:lstStyle/>
          <a:p>
            <a:pPr algn="ctr">
              <a:lnSpc>
                <a:spcPts val="4312"/>
              </a:lnSpc>
            </a:pPr>
            <a:r>
              <a:rPr lang="en-US" sz="4312" b="1">
                <a:solidFill>
                  <a:srgbClr val="DAD8E9"/>
                </a:solidFill>
                <a:latin typeface="Prompt Medium"/>
                <a:ea typeface="Prompt Medium"/>
                <a:cs typeface="Prompt Medium"/>
                <a:sym typeface="Prompt Medium"/>
              </a:rPr>
              <a:t>0.45</a:t>
            </a:r>
          </a:p>
        </p:txBody>
      </p:sp>
      <p:grpSp>
        <p:nvGrpSpPr>
          <p:cNvPr id="18" name="Group 18"/>
          <p:cNvGrpSpPr/>
          <p:nvPr/>
        </p:nvGrpSpPr>
        <p:grpSpPr>
          <a:xfrm>
            <a:off x="7489327" y="3293564"/>
            <a:ext cx="3309195" cy="3309195"/>
            <a:chOff x="0" y="0"/>
            <a:chExt cx="4412259" cy="4412259"/>
          </a:xfrm>
        </p:grpSpPr>
        <p:sp>
          <p:nvSpPr>
            <p:cNvPr id="19" name="Freeform 19" descr="preencoded.png"/>
            <p:cNvSpPr/>
            <p:nvPr/>
          </p:nvSpPr>
          <p:spPr>
            <a:xfrm>
              <a:off x="0" y="0"/>
              <a:ext cx="4412234" cy="4412234"/>
            </a:xfrm>
            <a:custGeom>
              <a:avLst/>
              <a:gdLst/>
              <a:ahLst/>
              <a:cxnLst/>
              <a:rect l="l" t="t" r="r" b="b"/>
              <a:pathLst>
                <a:path w="4412234" h="4412234">
                  <a:moveTo>
                    <a:pt x="0" y="0"/>
                  </a:moveTo>
                  <a:lnTo>
                    <a:pt x="4412234" y="0"/>
                  </a:lnTo>
                  <a:lnTo>
                    <a:pt x="4412234" y="4412234"/>
                  </a:lnTo>
                  <a:lnTo>
                    <a:pt x="0" y="4412234"/>
                  </a:lnTo>
                  <a:lnTo>
                    <a:pt x="0" y="0"/>
                  </a:lnTo>
                  <a:close/>
                </a:path>
              </a:pathLst>
            </a:custGeom>
            <a:blipFill>
              <a:blip r:embed="rId6"/>
              <a:stretch>
                <a:fillRect/>
              </a:stretch>
            </a:blipFill>
          </p:spPr>
        </p:sp>
      </p:grpSp>
      <p:sp>
        <p:nvSpPr>
          <p:cNvPr id="20" name="TextBox 20"/>
          <p:cNvSpPr txBox="1"/>
          <p:nvPr/>
        </p:nvSpPr>
        <p:spPr>
          <a:xfrm>
            <a:off x="7363720" y="6824958"/>
            <a:ext cx="3560416" cy="315811"/>
          </a:xfrm>
          <a:prstGeom prst="rect">
            <a:avLst/>
          </a:prstGeom>
        </p:spPr>
        <p:txBody>
          <a:bodyPr lIns="0" tIns="0" rIns="0" bIns="0" rtlCol="0" anchor="t">
            <a:spAutoFit/>
          </a:bodyPr>
          <a:lstStyle/>
          <a:p>
            <a:pPr algn="ctr">
              <a:lnSpc>
                <a:spcPts val="2375"/>
              </a:lnSpc>
            </a:pPr>
            <a:r>
              <a:rPr lang="en-US" sz="1874" b="1">
                <a:solidFill>
                  <a:srgbClr val="DAD8E9"/>
                </a:solidFill>
                <a:latin typeface="Prompt Medium"/>
                <a:ea typeface="Prompt Medium"/>
                <a:cs typeface="Prompt Medium"/>
                <a:sym typeface="Prompt Medium"/>
              </a:rPr>
              <a:t>Hours Studied vs. Exam Score</a:t>
            </a:r>
          </a:p>
        </p:txBody>
      </p:sp>
      <p:sp>
        <p:nvSpPr>
          <p:cNvPr id="21" name="TextBox 21"/>
          <p:cNvSpPr txBox="1"/>
          <p:nvPr/>
        </p:nvSpPr>
        <p:spPr>
          <a:xfrm>
            <a:off x="6640116" y="7208634"/>
            <a:ext cx="5007616" cy="673598"/>
          </a:xfrm>
          <a:prstGeom prst="rect">
            <a:avLst/>
          </a:prstGeom>
        </p:spPr>
        <p:txBody>
          <a:bodyPr lIns="0" tIns="0" rIns="0" bIns="0" rtlCol="0" anchor="t">
            <a:spAutoFit/>
          </a:bodyPr>
          <a:lstStyle/>
          <a:p>
            <a:pPr algn="ctr">
              <a:lnSpc>
                <a:spcPts val="2499"/>
              </a:lnSpc>
            </a:pPr>
            <a:r>
              <a:rPr lang="en-US" sz="1687">
                <a:solidFill>
                  <a:srgbClr val="DAD8E9"/>
                </a:solidFill>
                <a:latin typeface="Mukta Light"/>
                <a:ea typeface="Mukta Light"/>
                <a:cs typeface="Mukta Light"/>
                <a:sym typeface="Mukta Light"/>
              </a:rPr>
              <a:t>Moderate positive correlation — consistent study habits pay dividends</a:t>
            </a:r>
          </a:p>
        </p:txBody>
      </p:sp>
      <p:sp>
        <p:nvSpPr>
          <p:cNvPr id="22" name="TextBox 22"/>
          <p:cNvSpPr txBox="1"/>
          <p:nvPr/>
        </p:nvSpPr>
        <p:spPr>
          <a:xfrm>
            <a:off x="13015617" y="4758033"/>
            <a:ext cx="2713434" cy="465687"/>
          </a:xfrm>
          <a:prstGeom prst="rect">
            <a:avLst/>
          </a:prstGeom>
        </p:spPr>
        <p:txBody>
          <a:bodyPr lIns="0" tIns="0" rIns="0" bIns="0" rtlCol="0" anchor="t">
            <a:spAutoFit/>
          </a:bodyPr>
          <a:lstStyle/>
          <a:p>
            <a:pPr algn="ctr">
              <a:lnSpc>
                <a:spcPts val="4312"/>
              </a:lnSpc>
            </a:pPr>
            <a:r>
              <a:rPr lang="en-US" sz="4312" b="1">
                <a:solidFill>
                  <a:srgbClr val="DAD8E9"/>
                </a:solidFill>
                <a:latin typeface="Prompt Medium"/>
                <a:ea typeface="Prompt Medium"/>
                <a:cs typeface="Prompt Medium"/>
                <a:sym typeface="Prompt Medium"/>
              </a:rPr>
              <a:t>0.18</a:t>
            </a:r>
          </a:p>
        </p:txBody>
      </p:sp>
      <p:grpSp>
        <p:nvGrpSpPr>
          <p:cNvPr id="23" name="Group 23"/>
          <p:cNvGrpSpPr/>
          <p:nvPr/>
        </p:nvGrpSpPr>
        <p:grpSpPr>
          <a:xfrm>
            <a:off x="12717809" y="3293564"/>
            <a:ext cx="3309195" cy="3309195"/>
            <a:chOff x="0" y="0"/>
            <a:chExt cx="4412259" cy="4412259"/>
          </a:xfrm>
        </p:grpSpPr>
        <p:sp>
          <p:nvSpPr>
            <p:cNvPr id="24" name="Freeform 24" descr="preencoded.png"/>
            <p:cNvSpPr/>
            <p:nvPr/>
          </p:nvSpPr>
          <p:spPr>
            <a:xfrm>
              <a:off x="0" y="0"/>
              <a:ext cx="4412234" cy="4412234"/>
            </a:xfrm>
            <a:custGeom>
              <a:avLst/>
              <a:gdLst/>
              <a:ahLst/>
              <a:cxnLst/>
              <a:rect l="l" t="t" r="r" b="b"/>
              <a:pathLst>
                <a:path w="4412234" h="4412234">
                  <a:moveTo>
                    <a:pt x="0" y="0"/>
                  </a:moveTo>
                  <a:lnTo>
                    <a:pt x="4412234" y="0"/>
                  </a:lnTo>
                  <a:lnTo>
                    <a:pt x="4412234" y="4412234"/>
                  </a:lnTo>
                  <a:lnTo>
                    <a:pt x="0" y="4412234"/>
                  </a:lnTo>
                  <a:lnTo>
                    <a:pt x="0" y="0"/>
                  </a:lnTo>
                  <a:close/>
                </a:path>
              </a:pathLst>
            </a:custGeom>
            <a:blipFill>
              <a:blip r:embed="rId7"/>
              <a:stretch>
                <a:fillRect/>
              </a:stretch>
            </a:blipFill>
          </p:spPr>
        </p:sp>
      </p:grpSp>
      <p:sp>
        <p:nvSpPr>
          <p:cNvPr id="25" name="TextBox 25"/>
          <p:cNvSpPr txBox="1"/>
          <p:nvPr/>
        </p:nvSpPr>
        <p:spPr>
          <a:xfrm>
            <a:off x="12493971" y="6824958"/>
            <a:ext cx="3756717" cy="315811"/>
          </a:xfrm>
          <a:prstGeom prst="rect">
            <a:avLst/>
          </a:prstGeom>
        </p:spPr>
        <p:txBody>
          <a:bodyPr lIns="0" tIns="0" rIns="0" bIns="0" rtlCol="0" anchor="t">
            <a:spAutoFit/>
          </a:bodyPr>
          <a:lstStyle/>
          <a:p>
            <a:pPr algn="ctr">
              <a:lnSpc>
                <a:spcPts val="2375"/>
              </a:lnSpc>
            </a:pPr>
            <a:r>
              <a:rPr lang="en-US" sz="1874" b="1">
                <a:solidFill>
                  <a:srgbClr val="DAD8E9"/>
                </a:solidFill>
                <a:latin typeface="Prompt Medium"/>
                <a:ea typeface="Prompt Medium"/>
                <a:cs typeface="Prompt Medium"/>
                <a:sym typeface="Prompt Medium"/>
              </a:rPr>
              <a:t>Previous Scores vs. Exam Score</a:t>
            </a:r>
          </a:p>
        </p:txBody>
      </p:sp>
      <p:sp>
        <p:nvSpPr>
          <p:cNvPr id="26" name="TextBox 26"/>
          <p:cNvSpPr txBox="1"/>
          <p:nvPr/>
        </p:nvSpPr>
        <p:spPr>
          <a:xfrm>
            <a:off x="11868598" y="7208634"/>
            <a:ext cx="5007616" cy="673598"/>
          </a:xfrm>
          <a:prstGeom prst="rect">
            <a:avLst/>
          </a:prstGeom>
        </p:spPr>
        <p:txBody>
          <a:bodyPr lIns="0" tIns="0" rIns="0" bIns="0" rtlCol="0" anchor="t">
            <a:spAutoFit/>
          </a:bodyPr>
          <a:lstStyle/>
          <a:p>
            <a:pPr algn="ctr">
              <a:lnSpc>
                <a:spcPts val="2499"/>
              </a:lnSpc>
            </a:pPr>
            <a:r>
              <a:rPr lang="en-US" sz="1687">
                <a:solidFill>
                  <a:srgbClr val="DAD8E9"/>
                </a:solidFill>
                <a:latin typeface="Mukta Light"/>
                <a:ea typeface="Mukta Light"/>
                <a:cs typeface="Mukta Light"/>
                <a:sym typeface="Mukta Light"/>
              </a:rPr>
              <a:t>Weak positive correlation — past performance is not destiny</a:t>
            </a:r>
          </a:p>
        </p:txBody>
      </p:sp>
      <p:grpSp>
        <p:nvGrpSpPr>
          <p:cNvPr id="27" name="Group 27"/>
          <p:cNvGrpSpPr/>
          <p:nvPr/>
        </p:nvGrpSpPr>
        <p:grpSpPr>
          <a:xfrm>
            <a:off x="1411786" y="8081067"/>
            <a:ext cx="15464428" cy="1136447"/>
            <a:chOff x="0" y="0"/>
            <a:chExt cx="20619237" cy="1515262"/>
          </a:xfrm>
        </p:grpSpPr>
        <p:sp>
          <p:nvSpPr>
            <p:cNvPr id="28" name="Freeform 28"/>
            <p:cNvSpPr/>
            <p:nvPr/>
          </p:nvSpPr>
          <p:spPr>
            <a:xfrm>
              <a:off x="0" y="0"/>
              <a:ext cx="20619211" cy="1515237"/>
            </a:xfrm>
            <a:custGeom>
              <a:avLst/>
              <a:gdLst/>
              <a:ahLst/>
              <a:cxnLst/>
              <a:rect l="l" t="t" r="r" b="b"/>
              <a:pathLst>
                <a:path w="20619211" h="1515237">
                  <a:moveTo>
                    <a:pt x="0" y="123571"/>
                  </a:moveTo>
                  <a:cubicBezTo>
                    <a:pt x="0" y="55372"/>
                    <a:pt x="55372" y="0"/>
                    <a:pt x="123571" y="0"/>
                  </a:cubicBezTo>
                  <a:lnTo>
                    <a:pt x="20495640" y="0"/>
                  </a:lnTo>
                  <a:cubicBezTo>
                    <a:pt x="20563839" y="0"/>
                    <a:pt x="20619211" y="55372"/>
                    <a:pt x="20619211" y="123571"/>
                  </a:cubicBezTo>
                  <a:lnTo>
                    <a:pt x="20619211" y="1391666"/>
                  </a:lnTo>
                  <a:cubicBezTo>
                    <a:pt x="20619211" y="1459865"/>
                    <a:pt x="20563839" y="1515237"/>
                    <a:pt x="20495640" y="1515237"/>
                  </a:cubicBezTo>
                  <a:lnTo>
                    <a:pt x="123571" y="1515237"/>
                  </a:lnTo>
                  <a:cubicBezTo>
                    <a:pt x="55372" y="1515237"/>
                    <a:pt x="0" y="1459865"/>
                    <a:pt x="0" y="1391666"/>
                  </a:cubicBezTo>
                  <a:close/>
                </a:path>
              </a:pathLst>
            </a:custGeom>
            <a:solidFill>
              <a:srgbClr val="321A2C"/>
            </a:solidFill>
          </p:spPr>
        </p:sp>
      </p:grpSp>
      <p:grpSp>
        <p:nvGrpSpPr>
          <p:cNvPr id="29" name="Group 29"/>
          <p:cNvGrpSpPr/>
          <p:nvPr/>
        </p:nvGrpSpPr>
        <p:grpSpPr>
          <a:xfrm>
            <a:off x="1632347" y="8382743"/>
            <a:ext cx="275634" cy="220561"/>
            <a:chOff x="0" y="0"/>
            <a:chExt cx="367513" cy="294081"/>
          </a:xfrm>
        </p:grpSpPr>
        <p:sp>
          <p:nvSpPr>
            <p:cNvPr id="30" name="Freeform 30" descr="preencoded.png"/>
            <p:cNvSpPr/>
            <p:nvPr/>
          </p:nvSpPr>
          <p:spPr>
            <a:xfrm>
              <a:off x="0" y="0"/>
              <a:ext cx="367538" cy="294132"/>
            </a:xfrm>
            <a:custGeom>
              <a:avLst/>
              <a:gdLst/>
              <a:ahLst/>
              <a:cxnLst/>
              <a:rect l="l" t="t" r="r" b="b"/>
              <a:pathLst>
                <a:path w="367538" h="294132">
                  <a:moveTo>
                    <a:pt x="0" y="0"/>
                  </a:moveTo>
                  <a:lnTo>
                    <a:pt x="367538" y="0"/>
                  </a:lnTo>
                  <a:lnTo>
                    <a:pt x="367538" y="294132"/>
                  </a:lnTo>
                  <a:lnTo>
                    <a:pt x="0" y="294132"/>
                  </a:lnTo>
                  <a:lnTo>
                    <a:pt x="0" y="0"/>
                  </a:lnTo>
                  <a:close/>
                </a:path>
              </a:pathLst>
            </a:custGeom>
            <a:blipFill>
              <a:blip r:embed="rId8"/>
              <a:stretch>
                <a:fillRect l="-449" r="-438" b="17"/>
              </a:stretch>
            </a:blipFill>
          </p:spPr>
        </p:sp>
      </p:grpSp>
      <p:sp>
        <p:nvSpPr>
          <p:cNvPr id="31" name="TextBox 31"/>
          <p:cNvSpPr txBox="1"/>
          <p:nvPr/>
        </p:nvSpPr>
        <p:spPr>
          <a:xfrm>
            <a:off x="2128542" y="8274691"/>
            <a:ext cx="14527111" cy="673598"/>
          </a:xfrm>
          <a:prstGeom prst="rect">
            <a:avLst/>
          </a:prstGeom>
        </p:spPr>
        <p:txBody>
          <a:bodyPr lIns="0" tIns="0" rIns="0" bIns="0" rtlCol="0" anchor="t">
            <a:spAutoFit/>
          </a:bodyPr>
          <a:lstStyle/>
          <a:p>
            <a:pPr algn="l">
              <a:lnSpc>
                <a:spcPts val="2499"/>
              </a:lnSpc>
            </a:pPr>
            <a:r>
              <a:rPr lang="en-US" sz="1687" b="1">
                <a:solidFill>
                  <a:srgbClr val="FFFFFF"/>
                </a:solidFill>
                <a:latin typeface="Mukta Bold"/>
                <a:ea typeface="Mukta Bold"/>
                <a:cs typeface="Mukta Bold"/>
                <a:sym typeface="Mukta Bold"/>
              </a:rPr>
              <a:t>Important Finding:</a:t>
            </a:r>
            <a:r>
              <a:rPr lang="en-US" sz="1687">
                <a:solidFill>
                  <a:srgbClr val="FFFFFF"/>
                </a:solidFill>
                <a:latin typeface="Mukta Light"/>
                <a:ea typeface="Mukta Light"/>
                <a:cs typeface="Mukta Light"/>
                <a:sym typeface="Mukta Light"/>
              </a:rPr>
              <a:t> The low correlation of Sleep Hours (-0.017) and Physical Activity (0.028) suggests these factors, while important for wellbeing, do not directly dictate exam variances in this specific cohort. This highlights the need for targeted academic interventions rather than general wellness programs alone.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914400" y="0"/>
            <a:chExt cx="24384000" cy="13716000"/>
          </a:xfrm>
        </p:grpSpPr>
        <p:sp>
          <p:nvSpPr>
            <p:cNvPr id="5" name="Freeform 5"/>
            <p:cNvSpPr/>
            <p:nvPr/>
          </p:nvSpPr>
          <p:spPr>
            <a:xfrm>
              <a:off x="91440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txBody>
            <a:bodyPr/>
            <a:lstStyle/>
            <a:p>
              <a:endParaRPr lang="en-US" dirty="0"/>
            </a:p>
          </p:txBody>
        </p:sp>
      </p:grpSp>
      <p:grpSp>
        <p:nvGrpSpPr>
          <p:cNvPr id="6" name="Group 6"/>
          <p:cNvGrpSpPr/>
          <p:nvPr/>
        </p:nvGrpSpPr>
        <p:grpSpPr>
          <a:xfrm>
            <a:off x="1832372" y="1260052"/>
            <a:ext cx="1586655" cy="361502"/>
            <a:chOff x="0" y="0"/>
            <a:chExt cx="2115541" cy="482003"/>
          </a:xfrm>
        </p:grpSpPr>
        <p:sp>
          <p:nvSpPr>
            <p:cNvPr id="7" name="Freeform 7"/>
            <p:cNvSpPr/>
            <p:nvPr/>
          </p:nvSpPr>
          <p:spPr>
            <a:xfrm>
              <a:off x="0" y="0"/>
              <a:ext cx="2115566" cy="482092"/>
            </a:xfrm>
            <a:custGeom>
              <a:avLst/>
              <a:gdLst/>
              <a:ahLst/>
              <a:cxnLst/>
              <a:rect l="l" t="t" r="r" b="b"/>
              <a:pathLst>
                <a:path w="2115566" h="482092">
                  <a:moveTo>
                    <a:pt x="0" y="93853"/>
                  </a:moveTo>
                  <a:cubicBezTo>
                    <a:pt x="0" y="42037"/>
                    <a:pt x="42037" y="0"/>
                    <a:pt x="93853" y="0"/>
                  </a:cubicBezTo>
                  <a:lnTo>
                    <a:pt x="2021713" y="0"/>
                  </a:lnTo>
                  <a:cubicBezTo>
                    <a:pt x="2073529" y="0"/>
                    <a:pt x="2115566" y="42037"/>
                    <a:pt x="2115566" y="93853"/>
                  </a:cubicBezTo>
                  <a:lnTo>
                    <a:pt x="2115566" y="388239"/>
                  </a:lnTo>
                  <a:cubicBezTo>
                    <a:pt x="2115566" y="440055"/>
                    <a:pt x="2073529" y="482092"/>
                    <a:pt x="2021713" y="482092"/>
                  </a:cubicBezTo>
                  <a:lnTo>
                    <a:pt x="93853" y="482092"/>
                  </a:lnTo>
                  <a:cubicBezTo>
                    <a:pt x="42037" y="481965"/>
                    <a:pt x="0" y="440055"/>
                    <a:pt x="0" y="388239"/>
                  </a:cubicBezTo>
                  <a:close/>
                </a:path>
              </a:pathLst>
            </a:custGeom>
            <a:solidFill>
              <a:srgbClr val="321A2C"/>
            </a:solidFill>
          </p:spPr>
        </p:sp>
      </p:grpSp>
      <p:sp>
        <p:nvSpPr>
          <p:cNvPr id="8" name="Freeform 8" descr="preencoded.png"/>
          <p:cNvSpPr/>
          <p:nvPr/>
        </p:nvSpPr>
        <p:spPr>
          <a:xfrm>
            <a:off x="1890413" y="1379842"/>
            <a:ext cx="167430" cy="167430"/>
          </a:xfrm>
          <a:custGeom>
            <a:avLst/>
            <a:gdLst/>
            <a:ahLst/>
            <a:cxnLst/>
            <a:rect l="l" t="t" r="r" b="b"/>
            <a:pathLst>
              <a:path w="167430" h="167430">
                <a:moveTo>
                  <a:pt x="0" y="0"/>
                </a:moveTo>
                <a:lnTo>
                  <a:pt x="167431" y="0"/>
                </a:lnTo>
                <a:lnTo>
                  <a:pt x="167431" y="167431"/>
                </a:lnTo>
                <a:lnTo>
                  <a:pt x="0" y="167431"/>
                </a:lnTo>
                <a:lnTo>
                  <a:pt x="0" y="0"/>
                </a:lnTo>
                <a:close/>
              </a:path>
            </a:pathLst>
          </a:custGeom>
          <a:blipFill>
            <a:blip r:embed="rId3">
              <a:extLst>
                <a:ext uri="{96DAC541-7B7A-43D3-8B79-37D633B846F1}">
                  <asvg:svgBlip xmlns:asvg="http://schemas.microsoft.com/office/drawing/2016/SVG/main" r:embed="rId4"/>
                </a:ext>
              </a:extLst>
            </a:blip>
            <a:stretch>
              <a:fillRect l="-2776" r="-2781"/>
            </a:stretch>
          </a:blipFill>
        </p:spPr>
      </p:sp>
      <p:sp>
        <p:nvSpPr>
          <p:cNvPr id="9" name="TextBox 9"/>
          <p:cNvSpPr txBox="1"/>
          <p:nvPr/>
        </p:nvSpPr>
        <p:spPr>
          <a:xfrm>
            <a:off x="2115883" y="1350202"/>
            <a:ext cx="1155731" cy="230832"/>
          </a:xfrm>
          <a:prstGeom prst="rect">
            <a:avLst/>
          </a:prstGeom>
        </p:spPr>
        <p:txBody>
          <a:bodyPr wrap="square" lIns="0" tIns="0" rIns="0" bIns="0" rtlCol="0" anchor="t">
            <a:spAutoFit/>
          </a:bodyPr>
          <a:lstStyle/>
          <a:p>
            <a:pPr algn="l">
              <a:lnSpc>
                <a:spcPts val="1812"/>
              </a:lnSpc>
            </a:pPr>
            <a:r>
              <a:rPr lang="en-US" sz="1312" dirty="0">
                <a:solidFill>
                  <a:srgbClr val="DAD8E9"/>
                </a:solidFill>
                <a:latin typeface="Mukta Light"/>
                <a:ea typeface="Mukta Light"/>
                <a:cs typeface="Mukta Light"/>
                <a:sym typeface="Mukta Light"/>
              </a:rPr>
              <a:t>SEGMENTATION</a:t>
            </a:r>
          </a:p>
        </p:txBody>
      </p:sp>
      <p:sp>
        <p:nvSpPr>
          <p:cNvPr id="10" name="TextBox 10"/>
          <p:cNvSpPr txBox="1"/>
          <p:nvPr/>
        </p:nvSpPr>
        <p:spPr>
          <a:xfrm>
            <a:off x="1818084" y="1675497"/>
            <a:ext cx="7462095" cy="600666"/>
          </a:xfrm>
          <a:prstGeom prst="rect">
            <a:avLst/>
          </a:prstGeom>
        </p:spPr>
        <p:txBody>
          <a:bodyPr lIns="0" tIns="0" rIns="0" bIns="0" rtlCol="0" anchor="t">
            <a:spAutoFit/>
          </a:bodyPr>
          <a:lstStyle/>
          <a:p>
            <a:pPr algn="l">
              <a:lnSpc>
                <a:spcPts val="4562"/>
              </a:lnSpc>
            </a:pPr>
            <a:r>
              <a:rPr lang="en-US" sz="3625" b="1" dirty="0">
                <a:solidFill>
                  <a:srgbClr val="C6BFEE"/>
                </a:solidFill>
                <a:latin typeface="Prompt Medium"/>
                <a:ea typeface="Prompt Medium"/>
                <a:cs typeface="Prompt Medium"/>
                <a:sym typeface="Prompt Medium"/>
              </a:rPr>
              <a:t>Four Student Personas Identified</a:t>
            </a:r>
          </a:p>
        </p:txBody>
      </p:sp>
      <p:sp>
        <p:nvSpPr>
          <p:cNvPr id="11" name="TextBox 11"/>
          <p:cNvSpPr txBox="1"/>
          <p:nvPr/>
        </p:nvSpPr>
        <p:spPr>
          <a:xfrm>
            <a:off x="1803797" y="2696166"/>
            <a:ext cx="14680406" cy="627755"/>
          </a:xfrm>
          <a:prstGeom prst="rect">
            <a:avLst/>
          </a:prstGeom>
        </p:spPr>
        <p:txBody>
          <a:bodyPr lIns="0" tIns="0" rIns="0" bIns="0" rtlCol="0" anchor="t">
            <a:spAutoFit/>
          </a:bodyPr>
          <a:lstStyle/>
          <a:p>
            <a:pPr algn="l">
              <a:lnSpc>
                <a:spcPts val="2312"/>
              </a:lnSpc>
            </a:pPr>
            <a:r>
              <a:rPr lang="en-US" sz="1625" dirty="0">
                <a:solidFill>
                  <a:srgbClr val="DAD8E9"/>
                </a:solidFill>
                <a:latin typeface="Mukta Light"/>
                <a:ea typeface="Mukta Light"/>
                <a:cs typeface="Mukta Light"/>
                <a:sym typeface="Mukta Light"/>
              </a:rPr>
              <a:t>We utilized the K-Means Clustering algorithm to segment students into four distinct personas, each requiring different support strategies. This segmentation enables personalized interventions that address specific behavioral patterns and academic needs.</a:t>
            </a:r>
          </a:p>
        </p:txBody>
      </p:sp>
      <p:grpSp>
        <p:nvGrpSpPr>
          <p:cNvPr id="12" name="Group 12"/>
          <p:cNvGrpSpPr/>
          <p:nvPr/>
        </p:nvGrpSpPr>
        <p:grpSpPr>
          <a:xfrm>
            <a:off x="1789509" y="3488827"/>
            <a:ext cx="7289159" cy="2743943"/>
            <a:chOff x="0" y="0"/>
            <a:chExt cx="9718878" cy="3658591"/>
          </a:xfrm>
        </p:grpSpPr>
        <p:sp>
          <p:nvSpPr>
            <p:cNvPr id="13" name="Freeform 13"/>
            <p:cNvSpPr/>
            <p:nvPr/>
          </p:nvSpPr>
          <p:spPr>
            <a:xfrm>
              <a:off x="19050" y="19050"/>
              <a:ext cx="9680701" cy="3620389"/>
            </a:xfrm>
            <a:custGeom>
              <a:avLst/>
              <a:gdLst/>
              <a:ahLst/>
              <a:cxnLst/>
              <a:rect l="l" t="t" r="r" b="b"/>
              <a:pathLst>
                <a:path w="9680701" h="3620389">
                  <a:moveTo>
                    <a:pt x="0" y="117221"/>
                  </a:moveTo>
                  <a:cubicBezTo>
                    <a:pt x="0" y="52451"/>
                    <a:pt x="52832" y="0"/>
                    <a:pt x="117983" y="0"/>
                  </a:cubicBezTo>
                  <a:lnTo>
                    <a:pt x="9562719" y="0"/>
                  </a:lnTo>
                  <a:cubicBezTo>
                    <a:pt x="9627870" y="0"/>
                    <a:pt x="9680701" y="52451"/>
                    <a:pt x="9680701" y="117221"/>
                  </a:cubicBezTo>
                  <a:lnTo>
                    <a:pt x="9680701" y="3503168"/>
                  </a:lnTo>
                  <a:cubicBezTo>
                    <a:pt x="9680701" y="3567938"/>
                    <a:pt x="9627870" y="3620389"/>
                    <a:pt x="9562719" y="3620389"/>
                  </a:cubicBezTo>
                  <a:lnTo>
                    <a:pt x="117983" y="3620389"/>
                  </a:lnTo>
                  <a:cubicBezTo>
                    <a:pt x="52832" y="3620389"/>
                    <a:pt x="0" y="3567938"/>
                    <a:pt x="0" y="3503168"/>
                  </a:cubicBezTo>
                  <a:close/>
                </a:path>
              </a:pathLst>
            </a:custGeom>
            <a:solidFill>
              <a:srgbClr val="0B0C23">
                <a:alpha val="90196"/>
              </a:srgbClr>
            </a:solidFill>
          </p:spPr>
        </p:sp>
        <p:sp>
          <p:nvSpPr>
            <p:cNvPr id="14" name="Freeform 14"/>
            <p:cNvSpPr/>
            <p:nvPr/>
          </p:nvSpPr>
          <p:spPr>
            <a:xfrm>
              <a:off x="0" y="0"/>
              <a:ext cx="9718801" cy="3658489"/>
            </a:xfrm>
            <a:custGeom>
              <a:avLst/>
              <a:gdLst/>
              <a:ahLst/>
              <a:cxnLst/>
              <a:rect l="l" t="t" r="r" b="b"/>
              <a:pathLst>
                <a:path w="9718801" h="3658489">
                  <a:moveTo>
                    <a:pt x="0" y="136271"/>
                  </a:moveTo>
                  <a:cubicBezTo>
                    <a:pt x="0" y="60960"/>
                    <a:pt x="61468" y="0"/>
                    <a:pt x="137033" y="0"/>
                  </a:cubicBezTo>
                  <a:lnTo>
                    <a:pt x="9581769" y="0"/>
                  </a:lnTo>
                  <a:lnTo>
                    <a:pt x="9581769" y="19050"/>
                  </a:lnTo>
                  <a:lnTo>
                    <a:pt x="9581769" y="0"/>
                  </a:lnTo>
                  <a:cubicBezTo>
                    <a:pt x="9657334" y="0"/>
                    <a:pt x="9718801" y="60960"/>
                    <a:pt x="9718801" y="136271"/>
                  </a:cubicBezTo>
                  <a:lnTo>
                    <a:pt x="9699751" y="136271"/>
                  </a:lnTo>
                  <a:lnTo>
                    <a:pt x="9718801" y="136271"/>
                  </a:lnTo>
                  <a:lnTo>
                    <a:pt x="9718801" y="3522218"/>
                  </a:lnTo>
                  <a:lnTo>
                    <a:pt x="9699751" y="3522218"/>
                  </a:lnTo>
                  <a:lnTo>
                    <a:pt x="9718801" y="3522218"/>
                  </a:lnTo>
                  <a:cubicBezTo>
                    <a:pt x="9718801" y="3597656"/>
                    <a:pt x="9657334" y="3658489"/>
                    <a:pt x="9581769" y="3658489"/>
                  </a:cubicBezTo>
                  <a:lnTo>
                    <a:pt x="9581769" y="3639439"/>
                  </a:lnTo>
                  <a:lnTo>
                    <a:pt x="9581769" y="3658489"/>
                  </a:lnTo>
                  <a:lnTo>
                    <a:pt x="137033" y="3658489"/>
                  </a:lnTo>
                  <a:lnTo>
                    <a:pt x="137033" y="3639439"/>
                  </a:lnTo>
                  <a:lnTo>
                    <a:pt x="137033" y="3658489"/>
                  </a:lnTo>
                  <a:cubicBezTo>
                    <a:pt x="61468" y="3658616"/>
                    <a:pt x="0" y="3597656"/>
                    <a:pt x="0" y="3522218"/>
                  </a:cubicBezTo>
                  <a:lnTo>
                    <a:pt x="0" y="136271"/>
                  </a:lnTo>
                  <a:lnTo>
                    <a:pt x="19050" y="136271"/>
                  </a:lnTo>
                  <a:lnTo>
                    <a:pt x="0" y="136271"/>
                  </a:lnTo>
                  <a:moveTo>
                    <a:pt x="38100" y="136271"/>
                  </a:moveTo>
                  <a:lnTo>
                    <a:pt x="38100" y="3522218"/>
                  </a:lnTo>
                  <a:lnTo>
                    <a:pt x="19050" y="3522218"/>
                  </a:lnTo>
                  <a:lnTo>
                    <a:pt x="38100" y="3522218"/>
                  </a:lnTo>
                  <a:cubicBezTo>
                    <a:pt x="38100" y="3576320"/>
                    <a:pt x="82296" y="3620389"/>
                    <a:pt x="137033" y="3620389"/>
                  </a:cubicBezTo>
                  <a:lnTo>
                    <a:pt x="9581769" y="3620389"/>
                  </a:lnTo>
                  <a:cubicBezTo>
                    <a:pt x="9636506" y="3620389"/>
                    <a:pt x="9680701" y="3576320"/>
                    <a:pt x="9680701" y="3522218"/>
                  </a:cubicBezTo>
                  <a:lnTo>
                    <a:pt x="9680701" y="136271"/>
                  </a:lnTo>
                  <a:cubicBezTo>
                    <a:pt x="9680701" y="82169"/>
                    <a:pt x="9636506" y="38100"/>
                    <a:pt x="9581769" y="38100"/>
                  </a:cubicBezTo>
                  <a:lnTo>
                    <a:pt x="137033" y="38100"/>
                  </a:lnTo>
                  <a:lnTo>
                    <a:pt x="137033" y="19050"/>
                  </a:lnTo>
                  <a:lnTo>
                    <a:pt x="137033" y="38100"/>
                  </a:lnTo>
                  <a:cubicBezTo>
                    <a:pt x="82296" y="38100"/>
                    <a:pt x="38100" y="82169"/>
                    <a:pt x="38100" y="136271"/>
                  </a:cubicBezTo>
                  <a:close/>
                </a:path>
              </a:pathLst>
            </a:custGeom>
            <a:solidFill>
              <a:srgbClr val="6D4562"/>
            </a:solidFill>
          </p:spPr>
        </p:sp>
      </p:grpSp>
      <p:grpSp>
        <p:nvGrpSpPr>
          <p:cNvPr id="15" name="Group 15"/>
          <p:cNvGrpSpPr/>
          <p:nvPr/>
        </p:nvGrpSpPr>
        <p:grpSpPr>
          <a:xfrm>
            <a:off x="1832372" y="3531689"/>
            <a:ext cx="7203434" cy="628202"/>
            <a:chOff x="0" y="0"/>
            <a:chExt cx="9604578" cy="837603"/>
          </a:xfrm>
        </p:grpSpPr>
        <p:sp>
          <p:nvSpPr>
            <p:cNvPr id="16" name="Freeform 16"/>
            <p:cNvSpPr/>
            <p:nvPr/>
          </p:nvSpPr>
          <p:spPr>
            <a:xfrm>
              <a:off x="0" y="0"/>
              <a:ext cx="9604756" cy="837692"/>
            </a:xfrm>
            <a:custGeom>
              <a:avLst/>
              <a:gdLst/>
              <a:ahLst/>
              <a:cxnLst/>
              <a:rect l="l" t="t" r="r" b="b"/>
              <a:pathLst>
                <a:path w="9604756" h="837692">
                  <a:moveTo>
                    <a:pt x="0" y="71628"/>
                  </a:moveTo>
                  <a:cubicBezTo>
                    <a:pt x="0" y="32004"/>
                    <a:pt x="32004" y="0"/>
                    <a:pt x="71628" y="0"/>
                  </a:cubicBezTo>
                  <a:lnTo>
                    <a:pt x="9533128" y="0"/>
                  </a:lnTo>
                  <a:cubicBezTo>
                    <a:pt x="9572625" y="0"/>
                    <a:pt x="9604756" y="32004"/>
                    <a:pt x="9604756" y="71628"/>
                  </a:cubicBezTo>
                  <a:lnTo>
                    <a:pt x="9604756" y="766064"/>
                  </a:lnTo>
                  <a:cubicBezTo>
                    <a:pt x="9604756" y="805561"/>
                    <a:pt x="9572752" y="837692"/>
                    <a:pt x="9533128" y="837692"/>
                  </a:cubicBezTo>
                  <a:lnTo>
                    <a:pt x="71628" y="837692"/>
                  </a:lnTo>
                  <a:cubicBezTo>
                    <a:pt x="32004" y="837565"/>
                    <a:pt x="0" y="805561"/>
                    <a:pt x="0" y="766064"/>
                  </a:cubicBezTo>
                  <a:close/>
                </a:path>
              </a:pathLst>
            </a:custGeom>
            <a:solidFill>
              <a:srgbClr val="542C49"/>
            </a:solidFill>
          </p:spPr>
        </p:sp>
      </p:grpSp>
      <p:sp>
        <p:nvSpPr>
          <p:cNvPr id="17" name="TextBox 17"/>
          <p:cNvSpPr txBox="1"/>
          <p:nvPr/>
        </p:nvSpPr>
        <p:spPr>
          <a:xfrm>
            <a:off x="5277002" y="3692281"/>
            <a:ext cx="314030" cy="344986"/>
          </a:xfrm>
          <a:prstGeom prst="rect">
            <a:avLst/>
          </a:prstGeom>
        </p:spPr>
        <p:txBody>
          <a:bodyPr lIns="0" tIns="0" rIns="0" bIns="0" rtlCol="0" anchor="t">
            <a:spAutoFit/>
          </a:bodyPr>
          <a:lstStyle/>
          <a:p>
            <a:pPr algn="l">
              <a:lnSpc>
                <a:spcPts val="2437"/>
              </a:lnSpc>
            </a:pPr>
            <a:r>
              <a:rPr lang="en-US" sz="2437" b="1">
                <a:solidFill>
                  <a:srgbClr val="DAD8E9"/>
                </a:solidFill>
                <a:latin typeface="Prompt Medium"/>
                <a:ea typeface="Prompt Medium"/>
                <a:cs typeface="Prompt Medium"/>
                <a:sym typeface="Prompt Medium"/>
              </a:rPr>
              <a:t>1</a:t>
            </a:r>
          </a:p>
        </p:txBody>
      </p:sp>
      <p:sp>
        <p:nvSpPr>
          <p:cNvPr id="18" name="TextBox 18"/>
          <p:cNvSpPr txBox="1"/>
          <p:nvPr/>
        </p:nvSpPr>
        <p:spPr>
          <a:xfrm>
            <a:off x="2041769" y="4309615"/>
            <a:ext cx="2326929" cy="300485"/>
          </a:xfrm>
          <a:prstGeom prst="rect">
            <a:avLst/>
          </a:prstGeom>
        </p:spPr>
        <p:txBody>
          <a:bodyPr lIns="0" tIns="0" rIns="0" bIns="0" rtlCol="0" anchor="t">
            <a:spAutoFit/>
          </a:bodyPr>
          <a:lstStyle/>
          <a:p>
            <a:pPr algn="l">
              <a:lnSpc>
                <a:spcPts val="2249"/>
              </a:lnSpc>
            </a:pPr>
            <a:r>
              <a:rPr lang="en-US" sz="1812" b="1">
                <a:solidFill>
                  <a:srgbClr val="DAD8E9"/>
                </a:solidFill>
                <a:latin typeface="Prompt Medium"/>
                <a:ea typeface="Prompt Medium"/>
                <a:cs typeface="Prompt Medium"/>
                <a:sym typeface="Prompt Medium"/>
              </a:rPr>
              <a:t>At Risk Students</a:t>
            </a:r>
          </a:p>
        </p:txBody>
      </p:sp>
      <p:sp>
        <p:nvSpPr>
          <p:cNvPr id="19" name="TextBox 19"/>
          <p:cNvSpPr txBox="1"/>
          <p:nvPr/>
        </p:nvSpPr>
        <p:spPr>
          <a:xfrm>
            <a:off x="2041769" y="4667545"/>
            <a:ext cx="6784629" cy="332927"/>
          </a:xfrm>
          <a:prstGeom prst="rect">
            <a:avLst/>
          </a:prstGeom>
        </p:spPr>
        <p:txBody>
          <a:bodyPr lIns="0" tIns="0" rIns="0" bIns="0" rtlCol="0" anchor="t">
            <a:spAutoFit/>
          </a:bodyPr>
          <a:lstStyle/>
          <a:p>
            <a:pPr algn="l">
              <a:lnSpc>
                <a:spcPts val="2312"/>
              </a:lnSpc>
            </a:pPr>
            <a:r>
              <a:rPr lang="en-US" sz="1625" b="1">
                <a:solidFill>
                  <a:srgbClr val="DAD8E9"/>
                </a:solidFill>
                <a:latin typeface="Mukta Bold"/>
                <a:ea typeface="Mukta Bold"/>
                <a:cs typeface="Mukta Bold"/>
                <a:sym typeface="Mukta Bold"/>
              </a:rPr>
              <a:t>Avg Study Hours:</a:t>
            </a:r>
            <a:r>
              <a:rPr lang="en-US" sz="1625">
                <a:solidFill>
                  <a:srgbClr val="DAD8E9"/>
                </a:solidFill>
                <a:latin typeface="Mukta Light"/>
                <a:ea typeface="Mukta Light"/>
                <a:cs typeface="Mukta Light"/>
                <a:sym typeface="Mukta Light"/>
              </a:rPr>
              <a:t> 18.7 | </a:t>
            </a:r>
            <a:r>
              <a:rPr lang="en-US" sz="1625" b="1">
                <a:solidFill>
                  <a:srgbClr val="DAD8E9"/>
                </a:solidFill>
                <a:latin typeface="Mukta Bold"/>
                <a:ea typeface="Mukta Bold"/>
                <a:cs typeface="Mukta Bold"/>
                <a:sym typeface="Mukta Bold"/>
              </a:rPr>
              <a:t>Avg Attendance:</a:t>
            </a:r>
            <a:r>
              <a:rPr lang="en-US" sz="1625">
                <a:solidFill>
                  <a:srgbClr val="DAD8E9"/>
                </a:solidFill>
                <a:latin typeface="Mukta Light"/>
                <a:ea typeface="Mukta Light"/>
                <a:cs typeface="Mukta Light"/>
                <a:sym typeface="Mukta Light"/>
              </a:rPr>
              <a:t> 68.9% | </a:t>
            </a:r>
            <a:r>
              <a:rPr lang="en-US" sz="1625" b="1">
                <a:solidFill>
                  <a:srgbClr val="DAD8E9"/>
                </a:solidFill>
                <a:latin typeface="Mukta Bold"/>
                <a:ea typeface="Mukta Bold"/>
                <a:cs typeface="Mukta Bold"/>
                <a:sym typeface="Mukta Bold"/>
              </a:rPr>
              <a:t>Avg Exam Score:</a:t>
            </a:r>
            <a:r>
              <a:rPr lang="en-US" sz="1625">
                <a:solidFill>
                  <a:srgbClr val="DAD8E9"/>
                </a:solidFill>
                <a:latin typeface="Mukta Light"/>
                <a:ea typeface="Mukta Light"/>
                <a:cs typeface="Mukta Light"/>
                <a:sym typeface="Mukta Light"/>
              </a:rPr>
              <a:t> 64.1</a:t>
            </a:r>
          </a:p>
        </p:txBody>
      </p:sp>
      <p:sp>
        <p:nvSpPr>
          <p:cNvPr id="20" name="TextBox 20"/>
          <p:cNvSpPr txBox="1"/>
          <p:nvPr/>
        </p:nvSpPr>
        <p:spPr>
          <a:xfrm>
            <a:off x="2041769" y="5057927"/>
            <a:ext cx="6784629" cy="922582"/>
          </a:xfrm>
          <a:prstGeom prst="rect">
            <a:avLst/>
          </a:prstGeom>
        </p:spPr>
        <p:txBody>
          <a:bodyPr lIns="0" tIns="0" rIns="0" bIns="0" rtlCol="0" anchor="t">
            <a:spAutoFit/>
          </a:bodyPr>
          <a:lstStyle/>
          <a:p>
            <a:pPr algn="l">
              <a:lnSpc>
                <a:spcPts val="2312"/>
              </a:lnSpc>
            </a:pPr>
            <a:r>
              <a:rPr lang="en-US" sz="1625">
                <a:solidFill>
                  <a:srgbClr val="000000"/>
                </a:solidFill>
                <a:latin typeface="Mukta Light"/>
                <a:ea typeface="Mukta Light"/>
                <a:cs typeface="Mukta Light"/>
                <a:sym typeface="Mukta Light"/>
              </a:rPr>
              <a:t>Strategic Action:</a:t>
            </a:r>
            <a:r>
              <a:rPr lang="en-US" sz="1625">
                <a:solidFill>
                  <a:srgbClr val="DAD8E9"/>
                </a:solidFill>
                <a:latin typeface="Mukta Light"/>
                <a:ea typeface="Mukta Light"/>
                <a:cs typeface="Mukta Light"/>
                <a:sym typeface="Mukta Light"/>
              </a:rPr>
              <a:t> Immediate intervention for attendance. These students show the lowest engagement metrics and require urgent support to prevent academic failure.</a:t>
            </a:r>
          </a:p>
        </p:txBody>
      </p:sp>
      <p:grpSp>
        <p:nvGrpSpPr>
          <p:cNvPr id="21" name="Group 21"/>
          <p:cNvGrpSpPr/>
          <p:nvPr/>
        </p:nvGrpSpPr>
        <p:grpSpPr>
          <a:xfrm>
            <a:off x="9209332" y="3488827"/>
            <a:ext cx="7289159" cy="2743943"/>
            <a:chOff x="0" y="0"/>
            <a:chExt cx="9718878" cy="3658591"/>
          </a:xfrm>
        </p:grpSpPr>
        <p:sp>
          <p:nvSpPr>
            <p:cNvPr id="22" name="Freeform 22"/>
            <p:cNvSpPr/>
            <p:nvPr/>
          </p:nvSpPr>
          <p:spPr>
            <a:xfrm>
              <a:off x="19050" y="19050"/>
              <a:ext cx="9680701" cy="3620389"/>
            </a:xfrm>
            <a:custGeom>
              <a:avLst/>
              <a:gdLst/>
              <a:ahLst/>
              <a:cxnLst/>
              <a:rect l="l" t="t" r="r" b="b"/>
              <a:pathLst>
                <a:path w="9680701" h="3620389">
                  <a:moveTo>
                    <a:pt x="0" y="117221"/>
                  </a:moveTo>
                  <a:cubicBezTo>
                    <a:pt x="0" y="52451"/>
                    <a:pt x="52832" y="0"/>
                    <a:pt x="117983" y="0"/>
                  </a:cubicBezTo>
                  <a:lnTo>
                    <a:pt x="9562719" y="0"/>
                  </a:lnTo>
                  <a:cubicBezTo>
                    <a:pt x="9627870" y="0"/>
                    <a:pt x="9680701" y="52451"/>
                    <a:pt x="9680701" y="117221"/>
                  </a:cubicBezTo>
                  <a:lnTo>
                    <a:pt x="9680701" y="3503168"/>
                  </a:lnTo>
                  <a:cubicBezTo>
                    <a:pt x="9680701" y="3567938"/>
                    <a:pt x="9627870" y="3620389"/>
                    <a:pt x="9562719" y="3620389"/>
                  </a:cubicBezTo>
                  <a:lnTo>
                    <a:pt x="117983" y="3620389"/>
                  </a:lnTo>
                  <a:cubicBezTo>
                    <a:pt x="52832" y="3620389"/>
                    <a:pt x="0" y="3567938"/>
                    <a:pt x="0" y="3503168"/>
                  </a:cubicBezTo>
                  <a:close/>
                </a:path>
              </a:pathLst>
            </a:custGeom>
            <a:solidFill>
              <a:srgbClr val="0B0C23">
                <a:alpha val="90196"/>
              </a:srgbClr>
            </a:solidFill>
          </p:spPr>
        </p:sp>
        <p:sp>
          <p:nvSpPr>
            <p:cNvPr id="23" name="Freeform 23"/>
            <p:cNvSpPr/>
            <p:nvPr/>
          </p:nvSpPr>
          <p:spPr>
            <a:xfrm>
              <a:off x="0" y="0"/>
              <a:ext cx="9718801" cy="3658489"/>
            </a:xfrm>
            <a:custGeom>
              <a:avLst/>
              <a:gdLst/>
              <a:ahLst/>
              <a:cxnLst/>
              <a:rect l="l" t="t" r="r" b="b"/>
              <a:pathLst>
                <a:path w="9718801" h="3658489">
                  <a:moveTo>
                    <a:pt x="0" y="136271"/>
                  </a:moveTo>
                  <a:cubicBezTo>
                    <a:pt x="0" y="60960"/>
                    <a:pt x="61468" y="0"/>
                    <a:pt x="137033" y="0"/>
                  </a:cubicBezTo>
                  <a:lnTo>
                    <a:pt x="9581769" y="0"/>
                  </a:lnTo>
                  <a:lnTo>
                    <a:pt x="9581769" y="19050"/>
                  </a:lnTo>
                  <a:lnTo>
                    <a:pt x="9581769" y="0"/>
                  </a:lnTo>
                  <a:cubicBezTo>
                    <a:pt x="9657334" y="0"/>
                    <a:pt x="9718801" y="60960"/>
                    <a:pt x="9718801" y="136271"/>
                  </a:cubicBezTo>
                  <a:lnTo>
                    <a:pt x="9699751" y="136271"/>
                  </a:lnTo>
                  <a:lnTo>
                    <a:pt x="9718801" y="136271"/>
                  </a:lnTo>
                  <a:lnTo>
                    <a:pt x="9718801" y="3522218"/>
                  </a:lnTo>
                  <a:lnTo>
                    <a:pt x="9699751" y="3522218"/>
                  </a:lnTo>
                  <a:lnTo>
                    <a:pt x="9718801" y="3522218"/>
                  </a:lnTo>
                  <a:cubicBezTo>
                    <a:pt x="9718801" y="3597656"/>
                    <a:pt x="9657334" y="3658489"/>
                    <a:pt x="9581769" y="3658489"/>
                  </a:cubicBezTo>
                  <a:lnTo>
                    <a:pt x="9581769" y="3639439"/>
                  </a:lnTo>
                  <a:lnTo>
                    <a:pt x="9581769" y="3658489"/>
                  </a:lnTo>
                  <a:lnTo>
                    <a:pt x="137033" y="3658489"/>
                  </a:lnTo>
                  <a:lnTo>
                    <a:pt x="137033" y="3639439"/>
                  </a:lnTo>
                  <a:lnTo>
                    <a:pt x="137033" y="3658489"/>
                  </a:lnTo>
                  <a:cubicBezTo>
                    <a:pt x="61468" y="3658616"/>
                    <a:pt x="0" y="3597656"/>
                    <a:pt x="0" y="3522218"/>
                  </a:cubicBezTo>
                  <a:lnTo>
                    <a:pt x="0" y="136271"/>
                  </a:lnTo>
                  <a:lnTo>
                    <a:pt x="19050" y="136271"/>
                  </a:lnTo>
                  <a:lnTo>
                    <a:pt x="0" y="136271"/>
                  </a:lnTo>
                  <a:moveTo>
                    <a:pt x="38100" y="136271"/>
                  </a:moveTo>
                  <a:lnTo>
                    <a:pt x="38100" y="3522218"/>
                  </a:lnTo>
                  <a:lnTo>
                    <a:pt x="19050" y="3522218"/>
                  </a:lnTo>
                  <a:lnTo>
                    <a:pt x="38100" y="3522218"/>
                  </a:lnTo>
                  <a:cubicBezTo>
                    <a:pt x="38100" y="3576320"/>
                    <a:pt x="82296" y="3620389"/>
                    <a:pt x="137033" y="3620389"/>
                  </a:cubicBezTo>
                  <a:lnTo>
                    <a:pt x="9581769" y="3620389"/>
                  </a:lnTo>
                  <a:cubicBezTo>
                    <a:pt x="9636506" y="3620389"/>
                    <a:pt x="9680701" y="3576320"/>
                    <a:pt x="9680701" y="3522218"/>
                  </a:cubicBezTo>
                  <a:lnTo>
                    <a:pt x="9680701" y="136271"/>
                  </a:lnTo>
                  <a:cubicBezTo>
                    <a:pt x="9680701" y="82169"/>
                    <a:pt x="9636506" y="38100"/>
                    <a:pt x="9581769" y="38100"/>
                  </a:cubicBezTo>
                  <a:lnTo>
                    <a:pt x="137033" y="38100"/>
                  </a:lnTo>
                  <a:lnTo>
                    <a:pt x="137033" y="19050"/>
                  </a:lnTo>
                  <a:lnTo>
                    <a:pt x="137033" y="38100"/>
                  </a:lnTo>
                  <a:cubicBezTo>
                    <a:pt x="82296" y="38100"/>
                    <a:pt x="38100" y="82169"/>
                    <a:pt x="38100" y="136271"/>
                  </a:cubicBezTo>
                  <a:close/>
                </a:path>
              </a:pathLst>
            </a:custGeom>
            <a:solidFill>
              <a:srgbClr val="6D4562"/>
            </a:solidFill>
          </p:spPr>
        </p:sp>
      </p:grpSp>
      <p:grpSp>
        <p:nvGrpSpPr>
          <p:cNvPr id="24" name="Group 24"/>
          <p:cNvGrpSpPr/>
          <p:nvPr/>
        </p:nvGrpSpPr>
        <p:grpSpPr>
          <a:xfrm>
            <a:off x="9252194" y="3531689"/>
            <a:ext cx="7203434" cy="628202"/>
            <a:chOff x="0" y="0"/>
            <a:chExt cx="9604578" cy="837603"/>
          </a:xfrm>
        </p:grpSpPr>
        <p:sp>
          <p:nvSpPr>
            <p:cNvPr id="25" name="Freeform 25"/>
            <p:cNvSpPr/>
            <p:nvPr/>
          </p:nvSpPr>
          <p:spPr>
            <a:xfrm>
              <a:off x="0" y="0"/>
              <a:ext cx="9604756" cy="837692"/>
            </a:xfrm>
            <a:custGeom>
              <a:avLst/>
              <a:gdLst/>
              <a:ahLst/>
              <a:cxnLst/>
              <a:rect l="l" t="t" r="r" b="b"/>
              <a:pathLst>
                <a:path w="9604756" h="837692">
                  <a:moveTo>
                    <a:pt x="0" y="71628"/>
                  </a:moveTo>
                  <a:cubicBezTo>
                    <a:pt x="0" y="32004"/>
                    <a:pt x="32004" y="0"/>
                    <a:pt x="71628" y="0"/>
                  </a:cubicBezTo>
                  <a:lnTo>
                    <a:pt x="9533128" y="0"/>
                  </a:lnTo>
                  <a:cubicBezTo>
                    <a:pt x="9572625" y="0"/>
                    <a:pt x="9604756" y="32004"/>
                    <a:pt x="9604756" y="71628"/>
                  </a:cubicBezTo>
                  <a:lnTo>
                    <a:pt x="9604756" y="766064"/>
                  </a:lnTo>
                  <a:cubicBezTo>
                    <a:pt x="9604756" y="805561"/>
                    <a:pt x="9572752" y="837692"/>
                    <a:pt x="9533128" y="837692"/>
                  </a:cubicBezTo>
                  <a:lnTo>
                    <a:pt x="71628" y="837692"/>
                  </a:lnTo>
                  <a:cubicBezTo>
                    <a:pt x="32004" y="837565"/>
                    <a:pt x="0" y="805561"/>
                    <a:pt x="0" y="766064"/>
                  </a:cubicBezTo>
                  <a:close/>
                </a:path>
              </a:pathLst>
            </a:custGeom>
            <a:solidFill>
              <a:srgbClr val="542C49"/>
            </a:solidFill>
          </p:spPr>
        </p:sp>
      </p:grpSp>
      <p:sp>
        <p:nvSpPr>
          <p:cNvPr id="26" name="TextBox 26"/>
          <p:cNvSpPr txBox="1"/>
          <p:nvPr/>
        </p:nvSpPr>
        <p:spPr>
          <a:xfrm>
            <a:off x="12696825" y="3692281"/>
            <a:ext cx="314030" cy="344986"/>
          </a:xfrm>
          <a:prstGeom prst="rect">
            <a:avLst/>
          </a:prstGeom>
        </p:spPr>
        <p:txBody>
          <a:bodyPr lIns="0" tIns="0" rIns="0" bIns="0" rtlCol="0" anchor="t">
            <a:spAutoFit/>
          </a:bodyPr>
          <a:lstStyle/>
          <a:p>
            <a:pPr algn="l">
              <a:lnSpc>
                <a:spcPts val="2437"/>
              </a:lnSpc>
            </a:pPr>
            <a:r>
              <a:rPr lang="en-US" sz="2437" b="1">
                <a:solidFill>
                  <a:srgbClr val="DAD8E9"/>
                </a:solidFill>
                <a:latin typeface="Prompt Medium"/>
                <a:ea typeface="Prompt Medium"/>
                <a:cs typeface="Prompt Medium"/>
                <a:sym typeface="Prompt Medium"/>
              </a:rPr>
              <a:t>2</a:t>
            </a:r>
          </a:p>
        </p:txBody>
      </p:sp>
      <p:sp>
        <p:nvSpPr>
          <p:cNvPr id="27" name="TextBox 27"/>
          <p:cNvSpPr txBox="1"/>
          <p:nvPr/>
        </p:nvSpPr>
        <p:spPr>
          <a:xfrm>
            <a:off x="9461602" y="4309615"/>
            <a:ext cx="2471147" cy="300485"/>
          </a:xfrm>
          <a:prstGeom prst="rect">
            <a:avLst/>
          </a:prstGeom>
        </p:spPr>
        <p:txBody>
          <a:bodyPr lIns="0" tIns="0" rIns="0" bIns="0" rtlCol="0" anchor="t">
            <a:spAutoFit/>
          </a:bodyPr>
          <a:lstStyle/>
          <a:p>
            <a:pPr algn="l">
              <a:lnSpc>
                <a:spcPts val="2249"/>
              </a:lnSpc>
            </a:pPr>
            <a:r>
              <a:rPr lang="en-US" sz="1812" b="1">
                <a:solidFill>
                  <a:srgbClr val="DAD8E9"/>
                </a:solidFill>
                <a:latin typeface="Prompt Medium"/>
                <a:ea typeface="Prompt Medium"/>
                <a:cs typeface="Prompt Medium"/>
                <a:sym typeface="Prompt Medium"/>
              </a:rPr>
              <a:t>Diligent / Needs Help</a:t>
            </a:r>
          </a:p>
        </p:txBody>
      </p:sp>
      <p:sp>
        <p:nvSpPr>
          <p:cNvPr id="28" name="TextBox 28"/>
          <p:cNvSpPr txBox="1"/>
          <p:nvPr/>
        </p:nvSpPr>
        <p:spPr>
          <a:xfrm>
            <a:off x="9461602" y="4667545"/>
            <a:ext cx="6784629" cy="332927"/>
          </a:xfrm>
          <a:prstGeom prst="rect">
            <a:avLst/>
          </a:prstGeom>
        </p:spPr>
        <p:txBody>
          <a:bodyPr lIns="0" tIns="0" rIns="0" bIns="0" rtlCol="0" anchor="t">
            <a:spAutoFit/>
          </a:bodyPr>
          <a:lstStyle/>
          <a:p>
            <a:pPr algn="l">
              <a:lnSpc>
                <a:spcPts val="2312"/>
              </a:lnSpc>
            </a:pPr>
            <a:r>
              <a:rPr lang="en-US" sz="1625" b="1">
                <a:solidFill>
                  <a:srgbClr val="DAD8E9"/>
                </a:solidFill>
                <a:latin typeface="Mukta Bold"/>
                <a:ea typeface="Mukta Bold"/>
                <a:cs typeface="Mukta Bold"/>
                <a:sym typeface="Mukta Bold"/>
              </a:rPr>
              <a:t>Avg Study Hours:</a:t>
            </a:r>
            <a:r>
              <a:rPr lang="en-US" sz="1625">
                <a:solidFill>
                  <a:srgbClr val="DAD8E9"/>
                </a:solidFill>
                <a:latin typeface="Mukta Light"/>
                <a:ea typeface="Mukta Light"/>
                <a:cs typeface="Mukta Light"/>
                <a:sym typeface="Mukta Light"/>
              </a:rPr>
              <a:t> 16.6 | </a:t>
            </a:r>
            <a:r>
              <a:rPr lang="en-US" sz="1625" b="1">
                <a:solidFill>
                  <a:srgbClr val="DAD8E9"/>
                </a:solidFill>
                <a:latin typeface="Mukta Bold"/>
                <a:ea typeface="Mukta Bold"/>
                <a:cs typeface="Mukta Bold"/>
                <a:sym typeface="Mukta Bold"/>
              </a:rPr>
              <a:t>Avg Attendance:</a:t>
            </a:r>
            <a:r>
              <a:rPr lang="en-US" sz="1625">
                <a:solidFill>
                  <a:srgbClr val="DAD8E9"/>
                </a:solidFill>
                <a:latin typeface="Mukta Light"/>
                <a:ea typeface="Mukta Light"/>
                <a:cs typeface="Mukta Light"/>
                <a:sym typeface="Mukta Light"/>
              </a:rPr>
              <a:t> 89.6% | </a:t>
            </a:r>
            <a:r>
              <a:rPr lang="en-US" sz="1625" b="1">
                <a:solidFill>
                  <a:srgbClr val="DAD8E9"/>
                </a:solidFill>
                <a:latin typeface="Mukta Bold"/>
                <a:ea typeface="Mukta Bold"/>
                <a:cs typeface="Mukta Bold"/>
                <a:sym typeface="Mukta Bold"/>
              </a:rPr>
              <a:t>Avg Exam Score:</a:t>
            </a:r>
            <a:r>
              <a:rPr lang="en-US" sz="1625">
                <a:solidFill>
                  <a:srgbClr val="DAD8E9"/>
                </a:solidFill>
                <a:latin typeface="Mukta Light"/>
                <a:ea typeface="Mukta Light"/>
                <a:cs typeface="Mukta Light"/>
                <a:sym typeface="Mukta Light"/>
              </a:rPr>
              <a:t> 67.3</a:t>
            </a:r>
          </a:p>
        </p:txBody>
      </p:sp>
      <p:sp>
        <p:nvSpPr>
          <p:cNvPr id="29" name="TextBox 29"/>
          <p:cNvSpPr txBox="1"/>
          <p:nvPr/>
        </p:nvSpPr>
        <p:spPr>
          <a:xfrm>
            <a:off x="9461602" y="5057927"/>
            <a:ext cx="6784629" cy="627755"/>
          </a:xfrm>
          <a:prstGeom prst="rect">
            <a:avLst/>
          </a:prstGeom>
        </p:spPr>
        <p:txBody>
          <a:bodyPr lIns="0" tIns="0" rIns="0" bIns="0" rtlCol="0" anchor="t">
            <a:spAutoFit/>
          </a:bodyPr>
          <a:lstStyle/>
          <a:p>
            <a:pPr algn="l">
              <a:lnSpc>
                <a:spcPts val="2312"/>
              </a:lnSpc>
            </a:pPr>
            <a:r>
              <a:rPr lang="en-US" sz="1625">
                <a:solidFill>
                  <a:srgbClr val="000000"/>
                </a:solidFill>
                <a:latin typeface="Mukta Light"/>
                <a:ea typeface="Mukta Light"/>
                <a:cs typeface="Mukta Light"/>
                <a:sym typeface="Mukta Light"/>
              </a:rPr>
              <a:t>Strategic Action:</a:t>
            </a:r>
            <a:r>
              <a:rPr lang="en-US" sz="1625">
                <a:solidFill>
                  <a:srgbClr val="DAD8E9"/>
                </a:solidFill>
                <a:latin typeface="Mukta Light"/>
                <a:ea typeface="Mukta Light"/>
                <a:cs typeface="Mukta Light"/>
                <a:sym typeface="Mukta Light"/>
              </a:rPr>
              <a:t> Provide academic tutoring. High attendance but lower study hours suggest these students are engaged but need better study strategies.</a:t>
            </a:r>
          </a:p>
        </p:txBody>
      </p:sp>
      <p:grpSp>
        <p:nvGrpSpPr>
          <p:cNvPr id="30" name="Group 30"/>
          <p:cNvGrpSpPr/>
          <p:nvPr/>
        </p:nvGrpSpPr>
        <p:grpSpPr>
          <a:xfrm>
            <a:off x="1789509" y="6363443"/>
            <a:ext cx="7289159" cy="2449116"/>
            <a:chOff x="0" y="0"/>
            <a:chExt cx="9718878" cy="3265488"/>
          </a:xfrm>
        </p:grpSpPr>
        <p:sp>
          <p:nvSpPr>
            <p:cNvPr id="31" name="Freeform 31"/>
            <p:cNvSpPr/>
            <p:nvPr/>
          </p:nvSpPr>
          <p:spPr>
            <a:xfrm>
              <a:off x="19050" y="19050"/>
              <a:ext cx="9680829" cy="3227324"/>
            </a:xfrm>
            <a:custGeom>
              <a:avLst/>
              <a:gdLst/>
              <a:ahLst/>
              <a:cxnLst/>
              <a:rect l="l" t="t" r="r" b="b"/>
              <a:pathLst>
                <a:path w="9680829" h="3227324">
                  <a:moveTo>
                    <a:pt x="0" y="117221"/>
                  </a:moveTo>
                  <a:cubicBezTo>
                    <a:pt x="0" y="52451"/>
                    <a:pt x="52959" y="0"/>
                    <a:pt x="118237" y="0"/>
                  </a:cubicBezTo>
                  <a:lnTo>
                    <a:pt x="9562592" y="0"/>
                  </a:lnTo>
                  <a:cubicBezTo>
                    <a:pt x="9627870" y="0"/>
                    <a:pt x="9680829" y="52451"/>
                    <a:pt x="9680829" y="117221"/>
                  </a:cubicBezTo>
                  <a:lnTo>
                    <a:pt x="9680829" y="3110103"/>
                  </a:lnTo>
                  <a:cubicBezTo>
                    <a:pt x="9680829" y="3174873"/>
                    <a:pt x="9627870" y="3227324"/>
                    <a:pt x="9562592" y="3227324"/>
                  </a:cubicBezTo>
                  <a:lnTo>
                    <a:pt x="118237" y="3227324"/>
                  </a:lnTo>
                  <a:cubicBezTo>
                    <a:pt x="52959" y="3227324"/>
                    <a:pt x="0" y="3174873"/>
                    <a:pt x="0" y="3110103"/>
                  </a:cubicBezTo>
                  <a:close/>
                </a:path>
              </a:pathLst>
            </a:custGeom>
            <a:solidFill>
              <a:srgbClr val="0B0C23">
                <a:alpha val="90196"/>
              </a:srgbClr>
            </a:solidFill>
          </p:spPr>
        </p:sp>
        <p:sp>
          <p:nvSpPr>
            <p:cNvPr id="32" name="Freeform 32"/>
            <p:cNvSpPr/>
            <p:nvPr/>
          </p:nvSpPr>
          <p:spPr>
            <a:xfrm>
              <a:off x="0" y="0"/>
              <a:ext cx="9718929" cy="3265424"/>
            </a:xfrm>
            <a:custGeom>
              <a:avLst/>
              <a:gdLst/>
              <a:ahLst/>
              <a:cxnLst/>
              <a:rect l="l" t="t" r="r" b="b"/>
              <a:pathLst>
                <a:path w="9718929" h="3265424">
                  <a:moveTo>
                    <a:pt x="0" y="136271"/>
                  </a:moveTo>
                  <a:cubicBezTo>
                    <a:pt x="0" y="60960"/>
                    <a:pt x="61595" y="0"/>
                    <a:pt x="137287" y="0"/>
                  </a:cubicBezTo>
                  <a:lnTo>
                    <a:pt x="9581642" y="0"/>
                  </a:lnTo>
                  <a:lnTo>
                    <a:pt x="9581642" y="19050"/>
                  </a:lnTo>
                  <a:lnTo>
                    <a:pt x="9581642" y="0"/>
                  </a:lnTo>
                  <a:cubicBezTo>
                    <a:pt x="9657335" y="0"/>
                    <a:pt x="9718929" y="60960"/>
                    <a:pt x="9718929" y="136271"/>
                  </a:cubicBezTo>
                  <a:lnTo>
                    <a:pt x="9699879" y="136271"/>
                  </a:lnTo>
                  <a:lnTo>
                    <a:pt x="9718929" y="136271"/>
                  </a:lnTo>
                  <a:lnTo>
                    <a:pt x="9718929" y="3129153"/>
                  </a:lnTo>
                  <a:lnTo>
                    <a:pt x="9699879" y="3129153"/>
                  </a:lnTo>
                  <a:lnTo>
                    <a:pt x="9718929" y="3129153"/>
                  </a:lnTo>
                  <a:cubicBezTo>
                    <a:pt x="9718929" y="3204591"/>
                    <a:pt x="9657335" y="3265424"/>
                    <a:pt x="9581642" y="3265424"/>
                  </a:cubicBezTo>
                  <a:lnTo>
                    <a:pt x="9581642" y="3246374"/>
                  </a:lnTo>
                  <a:lnTo>
                    <a:pt x="9581642" y="3265424"/>
                  </a:lnTo>
                  <a:lnTo>
                    <a:pt x="137287" y="3265424"/>
                  </a:lnTo>
                  <a:lnTo>
                    <a:pt x="137287" y="3246374"/>
                  </a:lnTo>
                  <a:lnTo>
                    <a:pt x="137287" y="3265424"/>
                  </a:lnTo>
                  <a:cubicBezTo>
                    <a:pt x="61595" y="3265551"/>
                    <a:pt x="0" y="3204591"/>
                    <a:pt x="0" y="3129153"/>
                  </a:cubicBezTo>
                  <a:lnTo>
                    <a:pt x="0" y="136271"/>
                  </a:lnTo>
                  <a:lnTo>
                    <a:pt x="19050" y="136271"/>
                  </a:lnTo>
                  <a:lnTo>
                    <a:pt x="0" y="136271"/>
                  </a:lnTo>
                  <a:moveTo>
                    <a:pt x="38100" y="136271"/>
                  </a:moveTo>
                  <a:lnTo>
                    <a:pt x="38100" y="3129153"/>
                  </a:lnTo>
                  <a:lnTo>
                    <a:pt x="19050" y="3129153"/>
                  </a:lnTo>
                  <a:lnTo>
                    <a:pt x="38100" y="3129153"/>
                  </a:lnTo>
                  <a:cubicBezTo>
                    <a:pt x="38100" y="3183255"/>
                    <a:pt x="82296" y="3227324"/>
                    <a:pt x="137287" y="3227324"/>
                  </a:cubicBezTo>
                  <a:lnTo>
                    <a:pt x="9581642" y="3227324"/>
                  </a:lnTo>
                  <a:cubicBezTo>
                    <a:pt x="9636506" y="3227324"/>
                    <a:pt x="9680829" y="3183255"/>
                    <a:pt x="9680829" y="3129153"/>
                  </a:cubicBezTo>
                  <a:lnTo>
                    <a:pt x="9680829" y="136271"/>
                  </a:lnTo>
                  <a:cubicBezTo>
                    <a:pt x="9680829" y="82169"/>
                    <a:pt x="9636633" y="38100"/>
                    <a:pt x="9581642" y="38100"/>
                  </a:cubicBezTo>
                  <a:lnTo>
                    <a:pt x="137287" y="38100"/>
                  </a:lnTo>
                  <a:lnTo>
                    <a:pt x="137287" y="19050"/>
                  </a:lnTo>
                  <a:lnTo>
                    <a:pt x="137287" y="38100"/>
                  </a:lnTo>
                  <a:cubicBezTo>
                    <a:pt x="82296" y="38100"/>
                    <a:pt x="38100" y="82169"/>
                    <a:pt x="38100" y="136271"/>
                  </a:cubicBezTo>
                  <a:close/>
                </a:path>
              </a:pathLst>
            </a:custGeom>
            <a:solidFill>
              <a:srgbClr val="6D4562"/>
            </a:solidFill>
          </p:spPr>
        </p:sp>
      </p:grpSp>
      <p:grpSp>
        <p:nvGrpSpPr>
          <p:cNvPr id="33" name="Group 33"/>
          <p:cNvGrpSpPr/>
          <p:nvPr/>
        </p:nvGrpSpPr>
        <p:grpSpPr>
          <a:xfrm>
            <a:off x="1832372" y="6406305"/>
            <a:ext cx="7203434" cy="628202"/>
            <a:chOff x="0" y="0"/>
            <a:chExt cx="9604578" cy="837603"/>
          </a:xfrm>
        </p:grpSpPr>
        <p:sp>
          <p:nvSpPr>
            <p:cNvPr id="34" name="Freeform 34"/>
            <p:cNvSpPr/>
            <p:nvPr/>
          </p:nvSpPr>
          <p:spPr>
            <a:xfrm>
              <a:off x="0" y="0"/>
              <a:ext cx="9604756" cy="837692"/>
            </a:xfrm>
            <a:custGeom>
              <a:avLst/>
              <a:gdLst/>
              <a:ahLst/>
              <a:cxnLst/>
              <a:rect l="l" t="t" r="r" b="b"/>
              <a:pathLst>
                <a:path w="9604756" h="837692">
                  <a:moveTo>
                    <a:pt x="0" y="71628"/>
                  </a:moveTo>
                  <a:cubicBezTo>
                    <a:pt x="0" y="32004"/>
                    <a:pt x="32004" y="0"/>
                    <a:pt x="71628" y="0"/>
                  </a:cubicBezTo>
                  <a:lnTo>
                    <a:pt x="9533128" y="0"/>
                  </a:lnTo>
                  <a:cubicBezTo>
                    <a:pt x="9572625" y="0"/>
                    <a:pt x="9604756" y="32004"/>
                    <a:pt x="9604756" y="71628"/>
                  </a:cubicBezTo>
                  <a:lnTo>
                    <a:pt x="9604756" y="766064"/>
                  </a:lnTo>
                  <a:cubicBezTo>
                    <a:pt x="9604756" y="805561"/>
                    <a:pt x="9572752" y="837692"/>
                    <a:pt x="9533128" y="837692"/>
                  </a:cubicBezTo>
                  <a:lnTo>
                    <a:pt x="71628" y="837692"/>
                  </a:lnTo>
                  <a:cubicBezTo>
                    <a:pt x="32004" y="837565"/>
                    <a:pt x="0" y="805561"/>
                    <a:pt x="0" y="766064"/>
                  </a:cubicBezTo>
                  <a:close/>
                </a:path>
              </a:pathLst>
            </a:custGeom>
            <a:solidFill>
              <a:srgbClr val="542C49"/>
            </a:solidFill>
          </p:spPr>
        </p:sp>
      </p:grpSp>
      <p:sp>
        <p:nvSpPr>
          <p:cNvPr id="35" name="TextBox 35"/>
          <p:cNvSpPr txBox="1"/>
          <p:nvPr/>
        </p:nvSpPr>
        <p:spPr>
          <a:xfrm>
            <a:off x="5277002" y="6566897"/>
            <a:ext cx="314030" cy="344986"/>
          </a:xfrm>
          <a:prstGeom prst="rect">
            <a:avLst/>
          </a:prstGeom>
        </p:spPr>
        <p:txBody>
          <a:bodyPr lIns="0" tIns="0" rIns="0" bIns="0" rtlCol="0" anchor="t">
            <a:spAutoFit/>
          </a:bodyPr>
          <a:lstStyle/>
          <a:p>
            <a:pPr algn="l">
              <a:lnSpc>
                <a:spcPts val="2437"/>
              </a:lnSpc>
            </a:pPr>
            <a:r>
              <a:rPr lang="en-US" sz="2437" b="1">
                <a:solidFill>
                  <a:srgbClr val="DAD8E9"/>
                </a:solidFill>
                <a:latin typeface="Prompt Medium"/>
                <a:ea typeface="Prompt Medium"/>
                <a:cs typeface="Prompt Medium"/>
                <a:sym typeface="Prompt Medium"/>
              </a:rPr>
              <a:t>3</a:t>
            </a:r>
          </a:p>
        </p:txBody>
      </p:sp>
      <p:sp>
        <p:nvSpPr>
          <p:cNvPr id="36" name="TextBox 36"/>
          <p:cNvSpPr txBox="1"/>
          <p:nvPr/>
        </p:nvSpPr>
        <p:spPr>
          <a:xfrm>
            <a:off x="2041769" y="7184231"/>
            <a:ext cx="2326929" cy="300485"/>
          </a:xfrm>
          <a:prstGeom prst="rect">
            <a:avLst/>
          </a:prstGeom>
        </p:spPr>
        <p:txBody>
          <a:bodyPr lIns="0" tIns="0" rIns="0" bIns="0" rtlCol="0" anchor="t">
            <a:spAutoFit/>
          </a:bodyPr>
          <a:lstStyle/>
          <a:p>
            <a:pPr algn="l">
              <a:lnSpc>
                <a:spcPts val="2249"/>
              </a:lnSpc>
            </a:pPr>
            <a:r>
              <a:rPr lang="en-US" sz="1812" b="1">
                <a:solidFill>
                  <a:srgbClr val="DAD8E9"/>
                </a:solidFill>
                <a:latin typeface="Prompt Medium"/>
                <a:ea typeface="Prompt Medium"/>
                <a:cs typeface="Prompt Medium"/>
                <a:sym typeface="Prompt Medium"/>
              </a:rPr>
              <a:t>High Performers</a:t>
            </a:r>
          </a:p>
        </p:txBody>
      </p:sp>
      <p:sp>
        <p:nvSpPr>
          <p:cNvPr id="37" name="TextBox 37"/>
          <p:cNvSpPr txBox="1"/>
          <p:nvPr/>
        </p:nvSpPr>
        <p:spPr>
          <a:xfrm>
            <a:off x="2041769" y="7542162"/>
            <a:ext cx="6784629" cy="332927"/>
          </a:xfrm>
          <a:prstGeom prst="rect">
            <a:avLst/>
          </a:prstGeom>
        </p:spPr>
        <p:txBody>
          <a:bodyPr lIns="0" tIns="0" rIns="0" bIns="0" rtlCol="0" anchor="t">
            <a:spAutoFit/>
          </a:bodyPr>
          <a:lstStyle/>
          <a:p>
            <a:pPr algn="l">
              <a:lnSpc>
                <a:spcPts val="2312"/>
              </a:lnSpc>
            </a:pPr>
            <a:r>
              <a:rPr lang="en-US" sz="1625" b="1">
                <a:solidFill>
                  <a:srgbClr val="DAD8E9"/>
                </a:solidFill>
                <a:latin typeface="Mukta Bold"/>
                <a:ea typeface="Mukta Bold"/>
                <a:cs typeface="Mukta Bold"/>
                <a:sym typeface="Mukta Bold"/>
              </a:rPr>
              <a:t>Avg Study Hours:</a:t>
            </a:r>
            <a:r>
              <a:rPr lang="en-US" sz="1625">
                <a:solidFill>
                  <a:srgbClr val="DAD8E9"/>
                </a:solidFill>
                <a:latin typeface="Mukta Light"/>
                <a:ea typeface="Mukta Light"/>
                <a:cs typeface="Mukta Light"/>
                <a:sym typeface="Mukta Light"/>
              </a:rPr>
              <a:t> 24.9 | </a:t>
            </a:r>
            <a:r>
              <a:rPr lang="en-US" sz="1625" b="1">
                <a:solidFill>
                  <a:srgbClr val="DAD8E9"/>
                </a:solidFill>
                <a:latin typeface="Mukta Bold"/>
                <a:ea typeface="Mukta Bold"/>
                <a:cs typeface="Mukta Bold"/>
                <a:sym typeface="Mukta Bold"/>
              </a:rPr>
              <a:t>Avg Attendance:</a:t>
            </a:r>
            <a:r>
              <a:rPr lang="en-US" sz="1625">
                <a:solidFill>
                  <a:srgbClr val="DAD8E9"/>
                </a:solidFill>
                <a:latin typeface="Mukta Light"/>
                <a:ea typeface="Mukta Light"/>
                <a:cs typeface="Mukta Light"/>
                <a:sym typeface="Mukta Light"/>
              </a:rPr>
              <a:t> 87.1% | </a:t>
            </a:r>
            <a:r>
              <a:rPr lang="en-US" sz="1625" b="1">
                <a:solidFill>
                  <a:srgbClr val="DAD8E9"/>
                </a:solidFill>
                <a:latin typeface="Mukta Bold"/>
                <a:ea typeface="Mukta Bold"/>
                <a:cs typeface="Mukta Bold"/>
                <a:sym typeface="Mukta Bold"/>
              </a:rPr>
              <a:t>Avg Exam Score:</a:t>
            </a:r>
            <a:r>
              <a:rPr lang="en-US" sz="1625">
                <a:solidFill>
                  <a:srgbClr val="DAD8E9"/>
                </a:solidFill>
                <a:latin typeface="Mukta Light"/>
                <a:ea typeface="Mukta Light"/>
                <a:cs typeface="Mukta Light"/>
                <a:sym typeface="Mukta Light"/>
              </a:rPr>
              <a:t> 71.2</a:t>
            </a:r>
          </a:p>
        </p:txBody>
      </p:sp>
      <p:sp>
        <p:nvSpPr>
          <p:cNvPr id="38" name="TextBox 38"/>
          <p:cNvSpPr txBox="1"/>
          <p:nvPr/>
        </p:nvSpPr>
        <p:spPr>
          <a:xfrm>
            <a:off x="2041769" y="7932534"/>
            <a:ext cx="6784629" cy="627755"/>
          </a:xfrm>
          <a:prstGeom prst="rect">
            <a:avLst/>
          </a:prstGeom>
        </p:spPr>
        <p:txBody>
          <a:bodyPr lIns="0" tIns="0" rIns="0" bIns="0" rtlCol="0" anchor="t">
            <a:spAutoFit/>
          </a:bodyPr>
          <a:lstStyle/>
          <a:p>
            <a:pPr algn="l">
              <a:lnSpc>
                <a:spcPts val="2312"/>
              </a:lnSpc>
            </a:pPr>
            <a:r>
              <a:rPr lang="en-US" sz="1625">
                <a:solidFill>
                  <a:srgbClr val="000000"/>
                </a:solidFill>
                <a:latin typeface="Mukta Light"/>
                <a:ea typeface="Mukta Light"/>
                <a:cs typeface="Mukta Light"/>
                <a:sym typeface="Mukta Light"/>
              </a:rPr>
              <a:t>Strategic Action:</a:t>
            </a:r>
            <a:r>
              <a:rPr lang="en-US" sz="1625">
                <a:solidFill>
                  <a:srgbClr val="DAD8E9"/>
                </a:solidFill>
                <a:latin typeface="Mukta Light"/>
                <a:ea typeface="Mukta Light"/>
                <a:cs typeface="Mukta Light"/>
                <a:sym typeface="Mukta Light"/>
              </a:rPr>
              <a:t> Advanced placement/enrichment. These students excel across all metrics and should be challenged with advanced coursework.</a:t>
            </a:r>
          </a:p>
        </p:txBody>
      </p:sp>
      <p:grpSp>
        <p:nvGrpSpPr>
          <p:cNvPr id="39" name="Group 39"/>
          <p:cNvGrpSpPr/>
          <p:nvPr/>
        </p:nvGrpSpPr>
        <p:grpSpPr>
          <a:xfrm>
            <a:off x="9209332" y="6363443"/>
            <a:ext cx="7289159" cy="2449116"/>
            <a:chOff x="0" y="0"/>
            <a:chExt cx="9718878" cy="3265488"/>
          </a:xfrm>
        </p:grpSpPr>
        <p:sp>
          <p:nvSpPr>
            <p:cNvPr id="40" name="Freeform 40"/>
            <p:cNvSpPr/>
            <p:nvPr/>
          </p:nvSpPr>
          <p:spPr>
            <a:xfrm>
              <a:off x="19050" y="19050"/>
              <a:ext cx="9680829" cy="3227324"/>
            </a:xfrm>
            <a:custGeom>
              <a:avLst/>
              <a:gdLst/>
              <a:ahLst/>
              <a:cxnLst/>
              <a:rect l="l" t="t" r="r" b="b"/>
              <a:pathLst>
                <a:path w="9680829" h="3227324">
                  <a:moveTo>
                    <a:pt x="0" y="117221"/>
                  </a:moveTo>
                  <a:cubicBezTo>
                    <a:pt x="0" y="52451"/>
                    <a:pt x="52959" y="0"/>
                    <a:pt x="118237" y="0"/>
                  </a:cubicBezTo>
                  <a:lnTo>
                    <a:pt x="9562592" y="0"/>
                  </a:lnTo>
                  <a:cubicBezTo>
                    <a:pt x="9627870" y="0"/>
                    <a:pt x="9680829" y="52451"/>
                    <a:pt x="9680829" y="117221"/>
                  </a:cubicBezTo>
                  <a:lnTo>
                    <a:pt x="9680829" y="3110103"/>
                  </a:lnTo>
                  <a:cubicBezTo>
                    <a:pt x="9680829" y="3174873"/>
                    <a:pt x="9627870" y="3227324"/>
                    <a:pt x="9562592" y="3227324"/>
                  </a:cubicBezTo>
                  <a:lnTo>
                    <a:pt x="118237" y="3227324"/>
                  </a:lnTo>
                  <a:cubicBezTo>
                    <a:pt x="52959" y="3227324"/>
                    <a:pt x="0" y="3174873"/>
                    <a:pt x="0" y="3110103"/>
                  </a:cubicBezTo>
                  <a:close/>
                </a:path>
              </a:pathLst>
            </a:custGeom>
            <a:solidFill>
              <a:srgbClr val="0B0C23">
                <a:alpha val="90196"/>
              </a:srgbClr>
            </a:solidFill>
          </p:spPr>
        </p:sp>
        <p:sp>
          <p:nvSpPr>
            <p:cNvPr id="41" name="Freeform 41"/>
            <p:cNvSpPr/>
            <p:nvPr/>
          </p:nvSpPr>
          <p:spPr>
            <a:xfrm>
              <a:off x="0" y="0"/>
              <a:ext cx="9718929" cy="3265424"/>
            </a:xfrm>
            <a:custGeom>
              <a:avLst/>
              <a:gdLst/>
              <a:ahLst/>
              <a:cxnLst/>
              <a:rect l="l" t="t" r="r" b="b"/>
              <a:pathLst>
                <a:path w="9718929" h="3265424">
                  <a:moveTo>
                    <a:pt x="0" y="136271"/>
                  </a:moveTo>
                  <a:cubicBezTo>
                    <a:pt x="0" y="60960"/>
                    <a:pt x="61595" y="0"/>
                    <a:pt x="137287" y="0"/>
                  </a:cubicBezTo>
                  <a:lnTo>
                    <a:pt x="9581642" y="0"/>
                  </a:lnTo>
                  <a:lnTo>
                    <a:pt x="9581642" y="19050"/>
                  </a:lnTo>
                  <a:lnTo>
                    <a:pt x="9581642" y="0"/>
                  </a:lnTo>
                  <a:cubicBezTo>
                    <a:pt x="9657335" y="0"/>
                    <a:pt x="9718929" y="60960"/>
                    <a:pt x="9718929" y="136271"/>
                  </a:cubicBezTo>
                  <a:lnTo>
                    <a:pt x="9699879" y="136271"/>
                  </a:lnTo>
                  <a:lnTo>
                    <a:pt x="9718929" y="136271"/>
                  </a:lnTo>
                  <a:lnTo>
                    <a:pt x="9718929" y="3129153"/>
                  </a:lnTo>
                  <a:lnTo>
                    <a:pt x="9699879" y="3129153"/>
                  </a:lnTo>
                  <a:lnTo>
                    <a:pt x="9718929" y="3129153"/>
                  </a:lnTo>
                  <a:cubicBezTo>
                    <a:pt x="9718929" y="3204591"/>
                    <a:pt x="9657335" y="3265424"/>
                    <a:pt x="9581642" y="3265424"/>
                  </a:cubicBezTo>
                  <a:lnTo>
                    <a:pt x="9581642" y="3246374"/>
                  </a:lnTo>
                  <a:lnTo>
                    <a:pt x="9581642" y="3265424"/>
                  </a:lnTo>
                  <a:lnTo>
                    <a:pt x="137287" y="3265424"/>
                  </a:lnTo>
                  <a:lnTo>
                    <a:pt x="137287" y="3246374"/>
                  </a:lnTo>
                  <a:lnTo>
                    <a:pt x="137287" y="3265424"/>
                  </a:lnTo>
                  <a:cubicBezTo>
                    <a:pt x="61595" y="3265551"/>
                    <a:pt x="0" y="3204591"/>
                    <a:pt x="0" y="3129153"/>
                  </a:cubicBezTo>
                  <a:lnTo>
                    <a:pt x="0" y="136271"/>
                  </a:lnTo>
                  <a:lnTo>
                    <a:pt x="19050" y="136271"/>
                  </a:lnTo>
                  <a:lnTo>
                    <a:pt x="0" y="136271"/>
                  </a:lnTo>
                  <a:moveTo>
                    <a:pt x="38100" y="136271"/>
                  </a:moveTo>
                  <a:lnTo>
                    <a:pt x="38100" y="3129153"/>
                  </a:lnTo>
                  <a:lnTo>
                    <a:pt x="19050" y="3129153"/>
                  </a:lnTo>
                  <a:lnTo>
                    <a:pt x="38100" y="3129153"/>
                  </a:lnTo>
                  <a:cubicBezTo>
                    <a:pt x="38100" y="3183255"/>
                    <a:pt x="82296" y="3227324"/>
                    <a:pt x="137287" y="3227324"/>
                  </a:cubicBezTo>
                  <a:lnTo>
                    <a:pt x="9581642" y="3227324"/>
                  </a:lnTo>
                  <a:cubicBezTo>
                    <a:pt x="9636506" y="3227324"/>
                    <a:pt x="9680829" y="3183255"/>
                    <a:pt x="9680829" y="3129153"/>
                  </a:cubicBezTo>
                  <a:lnTo>
                    <a:pt x="9680829" y="136271"/>
                  </a:lnTo>
                  <a:cubicBezTo>
                    <a:pt x="9680829" y="82169"/>
                    <a:pt x="9636633" y="38100"/>
                    <a:pt x="9581642" y="38100"/>
                  </a:cubicBezTo>
                  <a:lnTo>
                    <a:pt x="137287" y="38100"/>
                  </a:lnTo>
                  <a:lnTo>
                    <a:pt x="137287" y="19050"/>
                  </a:lnTo>
                  <a:lnTo>
                    <a:pt x="137287" y="38100"/>
                  </a:lnTo>
                  <a:cubicBezTo>
                    <a:pt x="82296" y="38100"/>
                    <a:pt x="38100" y="82169"/>
                    <a:pt x="38100" y="136271"/>
                  </a:cubicBezTo>
                  <a:close/>
                </a:path>
              </a:pathLst>
            </a:custGeom>
            <a:solidFill>
              <a:srgbClr val="6D4562"/>
            </a:solidFill>
          </p:spPr>
        </p:sp>
      </p:grpSp>
      <p:grpSp>
        <p:nvGrpSpPr>
          <p:cNvPr id="42" name="Group 42"/>
          <p:cNvGrpSpPr/>
          <p:nvPr/>
        </p:nvGrpSpPr>
        <p:grpSpPr>
          <a:xfrm>
            <a:off x="9252194" y="6406305"/>
            <a:ext cx="7203434" cy="628202"/>
            <a:chOff x="0" y="0"/>
            <a:chExt cx="9604578" cy="837603"/>
          </a:xfrm>
        </p:grpSpPr>
        <p:sp>
          <p:nvSpPr>
            <p:cNvPr id="43" name="Freeform 43"/>
            <p:cNvSpPr/>
            <p:nvPr/>
          </p:nvSpPr>
          <p:spPr>
            <a:xfrm>
              <a:off x="0" y="0"/>
              <a:ext cx="9604756" cy="837692"/>
            </a:xfrm>
            <a:custGeom>
              <a:avLst/>
              <a:gdLst/>
              <a:ahLst/>
              <a:cxnLst/>
              <a:rect l="l" t="t" r="r" b="b"/>
              <a:pathLst>
                <a:path w="9604756" h="837692">
                  <a:moveTo>
                    <a:pt x="0" y="71628"/>
                  </a:moveTo>
                  <a:cubicBezTo>
                    <a:pt x="0" y="32004"/>
                    <a:pt x="32004" y="0"/>
                    <a:pt x="71628" y="0"/>
                  </a:cubicBezTo>
                  <a:lnTo>
                    <a:pt x="9533128" y="0"/>
                  </a:lnTo>
                  <a:cubicBezTo>
                    <a:pt x="9572625" y="0"/>
                    <a:pt x="9604756" y="32004"/>
                    <a:pt x="9604756" y="71628"/>
                  </a:cubicBezTo>
                  <a:lnTo>
                    <a:pt x="9604756" y="766064"/>
                  </a:lnTo>
                  <a:cubicBezTo>
                    <a:pt x="9604756" y="805561"/>
                    <a:pt x="9572752" y="837692"/>
                    <a:pt x="9533128" y="837692"/>
                  </a:cubicBezTo>
                  <a:lnTo>
                    <a:pt x="71628" y="837692"/>
                  </a:lnTo>
                  <a:cubicBezTo>
                    <a:pt x="32004" y="837565"/>
                    <a:pt x="0" y="805561"/>
                    <a:pt x="0" y="766064"/>
                  </a:cubicBezTo>
                  <a:close/>
                </a:path>
              </a:pathLst>
            </a:custGeom>
            <a:solidFill>
              <a:srgbClr val="542C49"/>
            </a:solidFill>
          </p:spPr>
        </p:sp>
      </p:grpSp>
      <p:sp>
        <p:nvSpPr>
          <p:cNvPr id="44" name="TextBox 44"/>
          <p:cNvSpPr txBox="1"/>
          <p:nvPr/>
        </p:nvSpPr>
        <p:spPr>
          <a:xfrm>
            <a:off x="12696825" y="6566897"/>
            <a:ext cx="314030" cy="344986"/>
          </a:xfrm>
          <a:prstGeom prst="rect">
            <a:avLst/>
          </a:prstGeom>
        </p:spPr>
        <p:txBody>
          <a:bodyPr lIns="0" tIns="0" rIns="0" bIns="0" rtlCol="0" anchor="t">
            <a:spAutoFit/>
          </a:bodyPr>
          <a:lstStyle/>
          <a:p>
            <a:pPr algn="l">
              <a:lnSpc>
                <a:spcPts val="2437"/>
              </a:lnSpc>
            </a:pPr>
            <a:r>
              <a:rPr lang="en-US" sz="2437" b="1">
                <a:solidFill>
                  <a:srgbClr val="DAD8E9"/>
                </a:solidFill>
                <a:latin typeface="Prompt Medium"/>
                <a:ea typeface="Prompt Medium"/>
                <a:cs typeface="Prompt Medium"/>
                <a:sym typeface="Prompt Medium"/>
              </a:rPr>
              <a:t>4</a:t>
            </a:r>
          </a:p>
        </p:txBody>
      </p:sp>
      <p:sp>
        <p:nvSpPr>
          <p:cNvPr id="45" name="TextBox 45"/>
          <p:cNvSpPr txBox="1"/>
          <p:nvPr/>
        </p:nvSpPr>
        <p:spPr>
          <a:xfrm>
            <a:off x="9461602" y="7184231"/>
            <a:ext cx="2326929" cy="300485"/>
          </a:xfrm>
          <a:prstGeom prst="rect">
            <a:avLst/>
          </a:prstGeom>
        </p:spPr>
        <p:txBody>
          <a:bodyPr lIns="0" tIns="0" rIns="0" bIns="0" rtlCol="0" anchor="t">
            <a:spAutoFit/>
          </a:bodyPr>
          <a:lstStyle/>
          <a:p>
            <a:pPr algn="l">
              <a:lnSpc>
                <a:spcPts val="2249"/>
              </a:lnSpc>
            </a:pPr>
            <a:r>
              <a:rPr lang="en-US" sz="1812" b="1">
                <a:solidFill>
                  <a:srgbClr val="DAD8E9"/>
                </a:solidFill>
                <a:latin typeface="Prompt Medium"/>
                <a:ea typeface="Prompt Medium"/>
                <a:cs typeface="Prompt Medium"/>
                <a:sym typeface="Prompt Medium"/>
              </a:rPr>
              <a:t>Supported Learners</a:t>
            </a:r>
          </a:p>
        </p:txBody>
      </p:sp>
      <p:sp>
        <p:nvSpPr>
          <p:cNvPr id="46" name="TextBox 46"/>
          <p:cNvSpPr txBox="1"/>
          <p:nvPr/>
        </p:nvSpPr>
        <p:spPr>
          <a:xfrm>
            <a:off x="9461602" y="7542162"/>
            <a:ext cx="6784629" cy="332927"/>
          </a:xfrm>
          <a:prstGeom prst="rect">
            <a:avLst/>
          </a:prstGeom>
        </p:spPr>
        <p:txBody>
          <a:bodyPr lIns="0" tIns="0" rIns="0" bIns="0" rtlCol="0" anchor="t">
            <a:spAutoFit/>
          </a:bodyPr>
          <a:lstStyle/>
          <a:p>
            <a:pPr algn="l">
              <a:lnSpc>
                <a:spcPts val="2312"/>
              </a:lnSpc>
            </a:pPr>
            <a:r>
              <a:rPr lang="en-US" sz="1625" b="1">
                <a:solidFill>
                  <a:srgbClr val="DAD8E9"/>
                </a:solidFill>
                <a:latin typeface="Mukta Bold"/>
                <a:ea typeface="Mukta Bold"/>
                <a:cs typeface="Mukta Bold"/>
                <a:sym typeface="Mukta Bold"/>
              </a:rPr>
              <a:t>Avg Study Hours:</a:t>
            </a:r>
            <a:r>
              <a:rPr lang="en-US" sz="1625">
                <a:solidFill>
                  <a:srgbClr val="DAD8E9"/>
                </a:solidFill>
                <a:latin typeface="Mukta Light"/>
                <a:ea typeface="Mukta Light"/>
                <a:cs typeface="Mukta Light"/>
                <a:sym typeface="Mukta Light"/>
              </a:rPr>
              <a:t> 20.3 | </a:t>
            </a:r>
            <a:r>
              <a:rPr lang="en-US" sz="1625" b="1">
                <a:solidFill>
                  <a:srgbClr val="DAD8E9"/>
                </a:solidFill>
                <a:latin typeface="Mukta Bold"/>
                <a:ea typeface="Mukta Bold"/>
                <a:cs typeface="Mukta Bold"/>
                <a:sym typeface="Mukta Bold"/>
              </a:rPr>
              <a:t>Avg Attendance:</a:t>
            </a:r>
            <a:r>
              <a:rPr lang="en-US" sz="1625">
                <a:solidFill>
                  <a:srgbClr val="DAD8E9"/>
                </a:solidFill>
                <a:latin typeface="Mukta Light"/>
                <a:ea typeface="Mukta Light"/>
                <a:cs typeface="Mukta Light"/>
                <a:sym typeface="Mukta Light"/>
              </a:rPr>
              <a:t> 79.5% | </a:t>
            </a:r>
            <a:r>
              <a:rPr lang="en-US" sz="1625" b="1">
                <a:solidFill>
                  <a:srgbClr val="DAD8E9"/>
                </a:solidFill>
                <a:latin typeface="Mukta Bold"/>
                <a:ea typeface="Mukta Bold"/>
                <a:cs typeface="Mukta Bold"/>
                <a:sym typeface="Mukta Bold"/>
              </a:rPr>
              <a:t>Avg Exam Score:</a:t>
            </a:r>
            <a:r>
              <a:rPr lang="en-US" sz="1625">
                <a:solidFill>
                  <a:srgbClr val="DAD8E9"/>
                </a:solidFill>
                <a:latin typeface="Mukta Light"/>
                <a:ea typeface="Mukta Light"/>
                <a:cs typeface="Mukta Light"/>
                <a:sym typeface="Mukta Light"/>
              </a:rPr>
              <a:t> 68.1</a:t>
            </a:r>
          </a:p>
        </p:txBody>
      </p:sp>
      <p:sp>
        <p:nvSpPr>
          <p:cNvPr id="47" name="TextBox 47"/>
          <p:cNvSpPr txBox="1"/>
          <p:nvPr/>
        </p:nvSpPr>
        <p:spPr>
          <a:xfrm>
            <a:off x="9461602" y="7932534"/>
            <a:ext cx="6784629" cy="627755"/>
          </a:xfrm>
          <a:prstGeom prst="rect">
            <a:avLst/>
          </a:prstGeom>
        </p:spPr>
        <p:txBody>
          <a:bodyPr lIns="0" tIns="0" rIns="0" bIns="0" rtlCol="0" anchor="t">
            <a:spAutoFit/>
          </a:bodyPr>
          <a:lstStyle/>
          <a:p>
            <a:pPr algn="l">
              <a:lnSpc>
                <a:spcPts val="2312"/>
              </a:lnSpc>
            </a:pPr>
            <a:r>
              <a:rPr lang="en-US" sz="1625">
                <a:solidFill>
                  <a:srgbClr val="000000"/>
                </a:solidFill>
                <a:latin typeface="Mukta Light"/>
                <a:ea typeface="Mukta Light"/>
                <a:cs typeface="Mukta Light"/>
                <a:sym typeface="Mukta Light"/>
              </a:rPr>
              <a:t>Strategic Action:</a:t>
            </a:r>
            <a:r>
              <a:rPr lang="en-US" sz="1625">
                <a:solidFill>
                  <a:srgbClr val="DAD8E9"/>
                </a:solidFill>
                <a:latin typeface="Mukta Light"/>
                <a:ea typeface="Mukta Light"/>
                <a:cs typeface="Mukta Light"/>
                <a:sym typeface="Mukta Light"/>
              </a:rPr>
              <a:t> Maintain tutoring support. Moderate performance across metrics indicates current support systems are working and should continue.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096566" y="1087488"/>
            <a:ext cx="1725368" cy="546202"/>
            <a:chOff x="0" y="0"/>
            <a:chExt cx="2300491" cy="728269"/>
          </a:xfrm>
        </p:grpSpPr>
        <p:sp>
          <p:nvSpPr>
            <p:cNvPr id="7" name="Freeform 7"/>
            <p:cNvSpPr/>
            <p:nvPr/>
          </p:nvSpPr>
          <p:spPr>
            <a:xfrm>
              <a:off x="0" y="0"/>
              <a:ext cx="2300478" cy="728218"/>
            </a:xfrm>
            <a:custGeom>
              <a:avLst/>
              <a:gdLst/>
              <a:ahLst/>
              <a:cxnLst/>
              <a:rect l="l" t="t" r="r" b="b"/>
              <a:pathLst>
                <a:path w="2300478" h="728218">
                  <a:moveTo>
                    <a:pt x="0" y="129667"/>
                  </a:moveTo>
                  <a:cubicBezTo>
                    <a:pt x="0" y="58039"/>
                    <a:pt x="58801" y="0"/>
                    <a:pt x="131191" y="0"/>
                  </a:cubicBezTo>
                  <a:lnTo>
                    <a:pt x="2169287" y="0"/>
                  </a:lnTo>
                  <a:lnTo>
                    <a:pt x="2169287" y="6350"/>
                  </a:lnTo>
                  <a:lnTo>
                    <a:pt x="2169287" y="0"/>
                  </a:lnTo>
                  <a:cubicBezTo>
                    <a:pt x="2241677" y="0"/>
                    <a:pt x="2300478" y="58039"/>
                    <a:pt x="2300478" y="129667"/>
                  </a:cubicBezTo>
                  <a:lnTo>
                    <a:pt x="2294128" y="129667"/>
                  </a:lnTo>
                  <a:lnTo>
                    <a:pt x="2300478" y="129667"/>
                  </a:lnTo>
                  <a:lnTo>
                    <a:pt x="2300478" y="598551"/>
                  </a:lnTo>
                  <a:lnTo>
                    <a:pt x="2294128" y="598551"/>
                  </a:lnTo>
                  <a:lnTo>
                    <a:pt x="2300478" y="598551"/>
                  </a:lnTo>
                  <a:cubicBezTo>
                    <a:pt x="2300478" y="670306"/>
                    <a:pt x="2241677" y="728218"/>
                    <a:pt x="2169287" y="728218"/>
                  </a:cubicBezTo>
                  <a:lnTo>
                    <a:pt x="2169287" y="721868"/>
                  </a:lnTo>
                  <a:lnTo>
                    <a:pt x="2169287" y="728218"/>
                  </a:lnTo>
                  <a:lnTo>
                    <a:pt x="131191" y="728218"/>
                  </a:lnTo>
                  <a:lnTo>
                    <a:pt x="131191" y="721868"/>
                  </a:lnTo>
                  <a:lnTo>
                    <a:pt x="131191" y="728218"/>
                  </a:lnTo>
                  <a:cubicBezTo>
                    <a:pt x="58801" y="728218"/>
                    <a:pt x="0" y="670306"/>
                    <a:pt x="0" y="598551"/>
                  </a:cubicBezTo>
                  <a:lnTo>
                    <a:pt x="0" y="129667"/>
                  </a:lnTo>
                  <a:lnTo>
                    <a:pt x="6350" y="129667"/>
                  </a:lnTo>
                  <a:lnTo>
                    <a:pt x="0" y="129667"/>
                  </a:lnTo>
                  <a:moveTo>
                    <a:pt x="12700" y="129667"/>
                  </a:moveTo>
                  <a:lnTo>
                    <a:pt x="12700" y="598551"/>
                  </a:lnTo>
                  <a:lnTo>
                    <a:pt x="6350" y="598551"/>
                  </a:lnTo>
                  <a:lnTo>
                    <a:pt x="12700" y="598551"/>
                  </a:lnTo>
                  <a:cubicBezTo>
                    <a:pt x="12700" y="663067"/>
                    <a:pt x="65659" y="715518"/>
                    <a:pt x="131191" y="715518"/>
                  </a:cubicBezTo>
                  <a:lnTo>
                    <a:pt x="2169287" y="715518"/>
                  </a:lnTo>
                  <a:cubicBezTo>
                    <a:pt x="2234819" y="715518"/>
                    <a:pt x="2287778" y="663067"/>
                    <a:pt x="2287778" y="598551"/>
                  </a:cubicBezTo>
                  <a:lnTo>
                    <a:pt x="2287778" y="129667"/>
                  </a:lnTo>
                  <a:cubicBezTo>
                    <a:pt x="2287778" y="65151"/>
                    <a:pt x="2234819" y="12700"/>
                    <a:pt x="2169287" y="12700"/>
                  </a:cubicBezTo>
                  <a:lnTo>
                    <a:pt x="131191" y="12700"/>
                  </a:lnTo>
                  <a:lnTo>
                    <a:pt x="131191" y="6350"/>
                  </a:lnTo>
                  <a:lnTo>
                    <a:pt x="131191" y="12700"/>
                  </a:lnTo>
                  <a:cubicBezTo>
                    <a:pt x="65659" y="12700"/>
                    <a:pt x="12700" y="65151"/>
                    <a:pt x="12700" y="129667"/>
                  </a:cubicBezTo>
                  <a:close/>
                </a:path>
              </a:pathLst>
            </a:custGeom>
            <a:solidFill>
              <a:srgbClr val="A95B95"/>
            </a:solidFill>
          </p:spPr>
        </p:sp>
      </p:grpSp>
      <p:sp>
        <p:nvSpPr>
          <p:cNvPr id="8" name="TextBox 8"/>
          <p:cNvSpPr txBox="1"/>
          <p:nvPr/>
        </p:nvSpPr>
        <p:spPr>
          <a:xfrm>
            <a:off x="1276055" y="1117702"/>
            <a:ext cx="1366390" cy="419100"/>
          </a:xfrm>
          <a:prstGeom prst="rect">
            <a:avLst/>
          </a:prstGeom>
        </p:spPr>
        <p:txBody>
          <a:bodyPr lIns="0" tIns="0" rIns="0" bIns="0" rtlCol="0" anchor="t">
            <a:spAutoFit/>
          </a:bodyPr>
          <a:lstStyle/>
          <a:p>
            <a:pPr algn="l">
              <a:lnSpc>
                <a:spcPts val="2749"/>
              </a:lnSpc>
            </a:pPr>
            <a:r>
              <a:rPr lang="en-US" sz="1687">
                <a:solidFill>
                  <a:srgbClr val="A95B95"/>
                </a:solidFill>
                <a:latin typeface="Mukta Light"/>
                <a:ea typeface="Mukta Light"/>
                <a:cs typeface="Mukta Light"/>
                <a:sym typeface="Mukta Light"/>
              </a:rPr>
              <a:t>VISUALIZATION</a:t>
            </a:r>
          </a:p>
        </p:txBody>
      </p:sp>
      <p:sp>
        <p:nvSpPr>
          <p:cNvPr id="9" name="TextBox 9"/>
          <p:cNvSpPr txBox="1"/>
          <p:nvPr/>
        </p:nvSpPr>
        <p:spPr>
          <a:xfrm>
            <a:off x="1101328" y="1710480"/>
            <a:ext cx="11389366" cy="793547"/>
          </a:xfrm>
          <a:prstGeom prst="rect">
            <a:avLst/>
          </a:prstGeom>
        </p:spPr>
        <p:txBody>
          <a:bodyPr lIns="0" tIns="0" rIns="0" bIns="0" rtlCol="0" anchor="t">
            <a:spAutoFit/>
          </a:bodyPr>
          <a:lstStyle/>
          <a:p>
            <a:pPr algn="l">
              <a:lnSpc>
                <a:spcPts val="6000"/>
              </a:lnSpc>
            </a:pPr>
            <a:r>
              <a:rPr lang="en-US" sz="4812" b="1">
                <a:solidFill>
                  <a:srgbClr val="C6BFEE"/>
                </a:solidFill>
                <a:latin typeface="Prompt Medium"/>
                <a:ea typeface="Prompt Medium"/>
                <a:cs typeface="Prompt Medium"/>
                <a:sym typeface="Prompt Medium"/>
              </a:rPr>
              <a:t>PCA Visualization: Seeing the Clusters</a:t>
            </a:r>
          </a:p>
        </p:txBody>
      </p:sp>
      <p:sp>
        <p:nvSpPr>
          <p:cNvPr id="10" name="TextBox 10"/>
          <p:cNvSpPr txBox="1"/>
          <p:nvPr/>
        </p:nvSpPr>
        <p:spPr>
          <a:xfrm>
            <a:off x="1101328" y="3088634"/>
            <a:ext cx="8544516" cy="1838325"/>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To visualize the 7-dimensional clusters, Principal Component Analysis (PCA) was used to project the data onto a 2D plane (PC1, PC2). This dimensionality reduction technique allows us to see patterns that would be invisible in the original high-dimensional space.</a:t>
            </a:r>
          </a:p>
        </p:txBody>
      </p:sp>
      <p:sp>
        <p:nvSpPr>
          <p:cNvPr id="11" name="TextBox 11"/>
          <p:cNvSpPr txBox="1"/>
          <p:nvPr/>
        </p:nvSpPr>
        <p:spPr>
          <a:xfrm>
            <a:off x="1101328" y="5098552"/>
            <a:ext cx="8544516" cy="2278856"/>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The </a:t>
            </a:r>
            <a:r>
              <a:rPr lang="en-US" sz="2125" b="1">
                <a:solidFill>
                  <a:srgbClr val="DAD8E9"/>
                </a:solidFill>
                <a:latin typeface="Mukta Bold"/>
                <a:ea typeface="Mukta Bold"/>
                <a:cs typeface="Mukta Bold"/>
                <a:sym typeface="Mukta Bold"/>
              </a:rPr>
              <a:t>Silhouette Score of 0.123</a:t>
            </a:r>
            <a:r>
              <a:rPr lang="en-US" sz="2125">
                <a:solidFill>
                  <a:srgbClr val="DAD8E9"/>
                </a:solidFill>
                <a:latin typeface="Mukta Light"/>
                <a:ea typeface="Mukta Light"/>
                <a:cs typeface="Mukta Light"/>
                <a:sym typeface="Mukta Light"/>
              </a:rPr>
              <a:t> indicates some overlap between clusters, which is common in social sciences where human behavior exists on a spectrum rather than in discrete categories. Despite this overlap, the clusters provide distinct behavioral profiles that educators can target with specific interventions.</a:t>
            </a:r>
          </a:p>
        </p:txBody>
      </p:sp>
      <p:sp>
        <p:nvSpPr>
          <p:cNvPr id="12" name="TextBox 12"/>
          <p:cNvSpPr txBox="1"/>
          <p:nvPr/>
        </p:nvSpPr>
        <p:spPr>
          <a:xfrm>
            <a:off x="1101328" y="7549010"/>
            <a:ext cx="8544516" cy="1397794"/>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Each cluster occupies a unique region in the reduced feature space, confirming that our segmentation captures meaningful differences in student behavior and performance patterns.</a:t>
            </a:r>
          </a:p>
        </p:txBody>
      </p:sp>
      <p:grpSp>
        <p:nvGrpSpPr>
          <p:cNvPr id="13" name="Group 13"/>
          <p:cNvGrpSpPr/>
          <p:nvPr/>
        </p:nvGrpSpPr>
        <p:grpSpPr>
          <a:xfrm>
            <a:off x="10327186" y="3226746"/>
            <a:ext cx="2857500" cy="2857500"/>
            <a:chOff x="0" y="0"/>
            <a:chExt cx="3810000" cy="3810000"/>
          </a:xfrm>
        </p:grpSpPr>
        <p:sp>
          <p:nvSpPr>
            <p:cNvPr id="14" name="Freeform 14" descr="preencoded.png"/>
            <p:cNvSpPr/>
            <p:nvPr/>
          </p:nvSpPr>
          <p:spPr>
            <a:xfrm>
              <a:off x="0" y="0"/>
              <a:ext cx="3810000" cy="3810000"/>
            </a:xfrm>
            <a:custGeom>
              <a:avLst/>
              <a:gdLst/>
              <a:ahLst/>
              <a:cxnLst/>
              <a:rect l="l" t="t" r="r" b="b"/>
              <a:pathLst>
                <a:path w="3810000" h="3810000">
                  <a:moveTo>
                    <a:pt x="0" y="0"/>
                  </a:moveTo>
                  <a:lnTo>
                    <a:pt x="3810000" y="0"/>
                  </a:lnTo>
                  <a:lnTo>
                    <a:pt x="3810000" y="3810000"/>
                  </a:lnTo>
                  <a:lnTo>
                    <a:pt x="0" y="3810000"/>
                  </a:lnTo>
                  <a:lnTo>
                    <a:pt x="0" y="0"/>
                  </a:lnTo>
                  <a:close/>
                </a:path>
              </a:pathLst>
            </a:custGeom>
            <a:blipFill>
              <a:blip r:embed="rId3"/>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028109" y="884930"/>
            <a:ext cx="2161880" cy="472230"/>
            <a:chOff x="0" y="0"/>
            <a:chExt cx="2882506" cy="629641"/>
          </a:xfrm>
        </p:grpSpPr>
        <p:sp>
          <p:nvSpPr>
            <p:cNvPr id="7" name="Freeform 7"/>
            <p:cNvSpPr/>
            <p:nvPr/>
          </p:nvSpPr>
          <p:spPr>
            <a:xfrm>
              <a:off x="0" y="0"/>
              <a:ext cx="2882519" cy="629666"/>
            </a:xfrm>
            <a:custGeom>
              <a:avLst/>
              <a:gdLst/>
              <a:ahLst/>
              <a:cxnLst/>
              <a:rect l="l" t="t" r="r" b="b"/>
              <a:pathLst>
                <a:path w="2882519" h="629666">
                  <a:moveTo>
                    <a:pt x="0" y="115189"/>
                  </a:moveTo>
                  <a:cubicBezTo>
                    <a:pt x="0" y="51562"/>
                    <a:pt x="51562" y="0"/>
                    <a:pt x="115189" y="0"/>
                  </a:cubicBezTo>
                  <a:lnTo>
                    <a:pt x="2767330" y="0"/>
                  </a:lnTo>
                  <a:cubicBezTo>
                    <a:pt x="2830957" y="0"/>
                    <a:pt x="2882519" y="51562"/>
                    <a:pt x="2882519" y="115189"/>
                  </a:cubicBezTo>
                  <a:lnTo>
                    <a:pt x="2882519" y="514477"/>
                  </a:lnTo>
                  <a:cubicBezTo>
                    <a:pt x="2882519" y="578104"/>
                    <a:pt x="2830957" y="629666"/>
                    <a:pt x="2767330" y="629666"/>
                  </a:cubicBezTo>
                  <a:lnTo>
                    <a:pt x="115189" y="629666"/>
                  </a:lnTo>
                  <a:cubicBezTo>
                    <a:pt x="51562" y="629666"/>
                    <a:pt x="0" y="578104"/>
                    <a:pt x="0" y="514477"/>
                  </a:cubicBezTo>
                  <a:close/>
                </a:path>
              </a:pathLst>
            </a:custGeom>
            <a:solidFill>
              <a:srgbClr val="321A2C"/>
            </a:solidFill>
          </p:spPr>
        </p:sp>
      </p:grpSp>
      <p:sp>
        <p:nvSpPr>
          <p:cNvPr id="8" name="Freeform 8" descr="preencoded.png"/>
          <p:cNvSpPr/>
          <p:nvPr/>
        </p:nvSpPr>
        <p:spPr>
          <a:xfrm>
            <a:off x="1182291" y="1018280"/>
            <a:ext cx="205530" cy="205530"/>
          </a:xfrm>
          <a:custGeom>
            <a:avLst/>
            <a:gdLst/>
            <a:ahLst/>
            <a:cxnLst/>
            <a:rect l="l" t="t" r="r" b="b"/>
            <a:pathLst>
              <a:path w="205530" h="205530">
                <a:moveTo>
                  <a:pt x="0" y="0"/>
                </a:moveTo>
                <a:lnTo>
                  <a:pt x="205530" y="0"/>
                </a:lnTo>
                <a:lnTo>
                  <a:pt x="205530" y="205530"/>
                </a:lnTo>
                <a:lnTo>
                  <a:pt x="0" y="205530"/>
                </a:lnTo>
                <a:lnTo>
                  <a:pt x="0" y="0"/>
                </a:lnTo>
                <a:close/>
              </a:path>
            </a:pathLst>
          </a:custGeom>
          <a:blipFill>
            <a:blip r:embed="rId3">
              <a:extLst>
                <a:ext uri="{96DAC541-7B7A-43D3-8B79-37D633B846F1}">
                  <asvg:svgBlip xmlns:asvg="http://schemas.microsoft.com/office/drawing/2016/SVG/main" r:embed="rId4"/>
                </a:ext>
              </a:extLst>
            </a:blip>
            <a:stretch>
              <a:fillRect t="-2270" b="-2275"/>
            </a:stretch>
          </a:blipFill>
        </p:spPr>
      </p:sp>
      <p:sp>
        <p:nvSpPr>
          <p:cNvPr id="9" name="TextBox 9"/>
          <p:cNvSpPr txBox="1"/>
          <p:nvPr/>
        </p:nvSpPr>
        <p:spPr>
          <a:xfrm>
            <a:off x="1490510" y="904875"/>
            <a:ext cx="1545279" cy="375199"/>
          </a:xfrm>
          <a:prstGeom prst="rect">
            <a:avLst/>
          </a:prstGeom>
        </p:spPr>
        <p:txBody>
          <a:bodyPr lIns="0" tIns="0" rIns="0" bIns="0" rtlCol="0" anchor="t">
            <a:spAutoFit/>
          </a:bodyPr>
          <a:lstStyle/>
          <a:p>
            <a:pPr algn="l">
              <a:lnSpc>
                <a:spcPts val="2499"/>
              </a:lnSpc>
            </a:pPr>
            <a:r>
              <a:rPr lang="en-US" sz="1562">
                <a:solidFill>
                  <a:srgbClr val="DAD8E9"/>
                </a:solidFill>
                <a:latin typeface="Mukta Light"/>
                <a:ea typeface="Mukta Light"/>
                <a:cs typeface="Mukta Light"/>
                <a:sym typeface="Mukta Light"/>
              </a:rPr>
              <a:t>SUCCESS FACTORS</a:t>
            </a:r>
          </a:p>
        </p:txBody>
      </p:sp>
      <p:sp>
        <p:nvSpPr>
          <p:cNvPr id="10" name="TextBox 10"/>
          <p:cNvSpPr txBox="1"/>
          <p:nvPr/>
        </p:nvSpPr>
        <p:spPr>
          <a:xfrm>
            <a:off x="1028109" y="1433960"/>
            <a:ext cx="11173863" cy="732977"/>
          </a:xfrm>
          <a:prstGeom prst="rect">
            <a:avLst/>
          </a:prstGeom>
        </p:spPr>
        <p:txBody>
          <a:bodyPr lIns="0" tIns="0" rIns="0" bIns="0" rtlCol="0" anchor="t">
            <a:spAutoFit/>
          </a:bodyPr>
          <a:lstStyle/>
          <a:p>
            <a:pPr algn="l">
              <a:lnSpc>
                <a:spcPts val="5562"/>
              </a:lnSpc>
            </a:pPr>
            <a:r>
              <a:rPr lang="en-US" sz="4437" b="1">
                <a:solidFill>
                  <a:srgbClr val="C6BFEE"/>
                </a:solidFill>
                <a:latin typeface="Prompt Medium"/>
                <a:ea typeface="Prompt Medium"/>
                <a:cs typeface="Prompt Medium"/>
                <a:sym typeface="Prompt Medium"/>
              </a:rPr>
              <a:t>The Success Basket: Beyond Academics</a:t>
            </a:r>
          </a:p>
        </p:txBody>
      </p:sp>
      <p:sp>
        <p:nvSpPr>
          <p:cNvPr id="11" name="TextBox 11"/>
          <p:cNvSpPr txBox="1"/>
          <p:nvPr/>
        </p:nvSpPr>
        <p:spPr>
          <a:xfrm>
            <a:off x="1028109" y="2450602"/>
            <a:ext cx="16231791" cy="871242"/>
          </a:xfrm>
          <a:prstGeom prst="rect">
            <a:avLst/>
          </a:prstGeom>
        </p:spPr>
        <p:txBody>
          <a:bodyPr lIns="0" tIns="0" rIns="0" bIns="0" rtlCol="0" anchor="t">
            <a:spAutoFit/>
          </a:bodyPr>
          <a:lstStyle/>
          <a:p>
            <a:pPr algn="l">
              <a:lnSpc>
                <a:spcPts val="3125"/>
              </a:lnSpc>
            </a:pPr>
            <a:r>
              <a:rPr lang="en-US" sz="2000">
                <a:solidFill>
                  <a:srgbClr val="DAD8E9"/>
                </a:solidFill>
                <a:latin typeface="Mukta Light"/>
                <a:ea typeface="Mukta Light"/>
                <a:cs typeface="Mukta Light"/>
                <a:sym typeface="Mukta Light"/>
              </a:rPr>
              <a:t>Analysis of categorical variables provided insights into the environmental and support factors that contribute to student success. These findings highlight the importance of holistic support systems.</a:t>
            </a:r>
          </a:p>
        </p:txBody>
      </p:sp>
      <p:grpSp>
        <p:nvGrpSpPr>
          <p:cNvPr id="12" name="Group 12"/>
          <p:cNvGrpSpPr/>
          <p:nvPr/>
        </p:nvGrpSpPr>
        <p:grpSpPr>
          <a:xfrm>
            <a:off x="1028109" y="3591668"/>
            <a:ext cx="3022102" cy="3022102"/>
            <a:chOff x="0" y="0"/>
            <a:chExt cx="4029469" cy="4029469"/>
          </a:xfrm>
        </p:grpSpPr>
        <p:sp>
          <p:nvSpPr>
            <p:cNvPr id="13" name="Freeform 13" descr="preencoded.png"/>
            <p:cNvSpPr/>
            <p:nvPr/>
          </p:nvSpPr>
          <p:spPr>
            <a:xfrm>
              <a:off x="0" y="0"/>
              <a:ext cx="4029456" cy="4029456"/>
            </a:xfrm>
            <a:custGeom>
              <a:avLst/>
              <a:gdLst/>
              <a:ahLst/>
              <a:cxnLst/>
              <a:rect l="l" t="t" r="r" b="b"/>
              <a:pathLst>
                <a:path w="4029456" h="4029456">
                  <a:moveTo>
                    <a:pt x="0" y="0"/>
                  </a:moveTo>
                  <a:lnTo>
                    <a:pt x="4029456" y="0"/>
                  </a:lnTo>
                  <a:lnTo>
                    <a:pt x="4029456" y="4029456"/>
                  </a:lnTo>
                  <a:lnTo>
                    <a:pt x="0" y="4029456"/>
                  </a:lnTo>
                  <a:lnTo>
                    <a:pt x="0" y="0"/>
                  </a:lnTo>
                  <a:close/>
                </a:path>
              </a:pathLst>
            </a:custGeom>
            <a:blipFill>
              <a:blip r:embed="rId5"/>
              <a:stretch>
                <a:fillRect/>
              </a:stretch>
            </a:blipFill>
          </p:spPr>
        </p:sp>
      </p:grpSp>
      <p:sp>
        <p:nvSpPr>
          <p:cNvPr id="14" name="TextBox 14"/>
          <p:cNvSpPr txBox="1"/>
          <p:nvPr/>
        </p:nvSpPr>
        <p:spPr>
          <a:xfrm>
            <a:off x="1028109" y="6904139"/>
            <a:ext cx="2899915" cy="366417"/>
          </a:xfrm>
          <a:prstGeom prst="rect">
            <a:avLst/>
          </a:prstGeom>
        </p:spPr>
        <p:txBody>
          <a:bodyPr lIns="0" tIns="0" rIns="0" bIns="0" rtlCol="0" anchor="t">
            <a:spAutoFit/>
          </a:bodyPr>
          <a:lstStyle/>
          <a:p>
            <a:pPr algn="l">
              <a:lnSpc>
                <a:spcPts val="2750"/>
              </a:lnSpc>
            </a:pPr>
            <a:r>
              <a:rPr lang="en-US" sz="2187" b="1">
                <a:solidFill>
                  <a:srgbClr val="DAD8E9"/>
                </a:solidFill>
                <a:latin typeface="Prompt Medium"/>
                <a:ea typeface="Prompt Medium"/>
                <a:cs typeface="Prompt Medium"/>
                <a:sym typeface="Prompt Medium"/>
              </a:rPr>
              <a:t>Parental Involvement</a:t>
            </a:r>
          </a:p>
        </p:txBody>
      </p:sp>
      <p:sp>
        <p:nvSpPr>
          <p:cNvPr id="15" name="TextBox 15"/>
          <p:cNvSpPr txBox="1"/>
          <p:nvPr/>
        </p:nvSpPr>
        <p:spPr>
          <a:xfrm>
            <a:off x="1028109" y="7338270"/>
            <a:ext cx="5210623" cy="2063801"/>
          </a:xfrm>
          <a:prstGeom prst="rect">
            <a:avLst/>
          </a:prstGeom>
        </p:spPr>
        <p:txBody>
          <a:bodyPr lIns="0" tIns="0" rIns="0" bIns="0" rtlCol="0" anchor="t">
            <a:spAutoFit/>
          </a:bodyPr>
          <a:lstStyle/>
          <a:p>
            <a:pPr algn="l">
              <a:lnSpc>
                <a:spcPts val="3125"/>
              </a:lnSpc>
            </a:pPr>
            <a:r>
              <a:rPr lang="en-US" sz="2000">
                <a:solidFill>
                  <a:srgbClr val="DAD8E9"/>
                </a:solidFill>
                <a:latin typeface="Mukta Light"/>
                <a:ea typeface="Mukta Light"/>
                <a:cs typeface="Mukta Light"/>
                <a:sym typeface="Mukta Light"/>
              </a:rPr>
              <a:t> Students with </a:t>
            </a:r>
            <a:r>
              <a:rPr lang="en-US" sz="2000" b="1">
                <a:solidFill>
                  <a:srgbClr val="DAD8E9"/>
                </a:solidFill>
                <a:latin typeface="Mukta Bold"/>
                <a:ea typeface="Mukta Bold"/>
                <a:cs typeface="Mukta Bold"/>
                <a:sym typeface="Mukta Bold"/>
              </a:rPr>
              <a:t>High</a:t>
            </a:r>
            <a:r>
              <a:rPr lang="en-US" sz="2000">
                <a:solidFill>
                  <a:srgbClr val="DAD8E9"/>
                </a:solidFill>
                <a:latin typeface="Mukta Light"/>
                <a:ea typeface="Mukta Light"/>
                <a:cs typeface="Mukta Light"/>
                <a:sym typeface="Mukta Light"/>
              </a:rPr>
              <a:t> parental involvement scored an average of </a:t>
            </a:r>
            <a:r>
              <a:rPr lang="en-US" sz="2000" b="1">
                <a:solidFill>
                  <a:srgbClr val="DAD8E9"/>
                </a:solidFill>
                <a:latin typeface="Mukta Bold"/>
                <a:ea typeface="Mukta Bold"/>
                <a:cs typeface="Mukta Bold"/>
                <a:sym typeface="Mukta Bold"/>
              </a:rPr>
              <a:t>68.09</a:t>
            </a:r>
            <a:r>
              <a:rPr lang="en-US" sz="2000">
                <a:solidFill>
                  <a:srgbClr val="DAD8E9"/>
                </a:solidFill>
                <a:latin typeface="Mukta Light"/>
                <a:ea typeface="Mukta Light"/>
                <a:cs typeface="Mukta Light"/>
                <a:sym typeface="Mukta Light"/>
              </a:rPr>
              <a:t>, compared to </a:t>
            </a:r>
            <a:r>
              <a:rPr lang="en-US" sz="2000" b="1">
                <a:solidFill>
                  <a:srgbClr val="DAD8E9"/>
                </a:solidFill>
                <a:latin typeface="Mukta Bold"/>
                <a:ea typeface="Mukta Bold"/>
                <a:cs typeface="Mukta Bold"/>
                <a:sym typeface="Mukta Bold"/>
              </a:rPr>
              <a:t>66.36</a:t>
            </a:r>
            <a:r>
              <a:rPr lang="en-US" sz="2000">
                <a:solidFill>
                  <a:srgbClr val="DAD8E9"/>
                </a:solidFill>
                <a:latin typeface="Mukta Light"/>
                <a:ea typeface="Mukta Light"/>
                <a:cs typeface="Mukta Light"/>
                <a:sym typeface="Mukta Light"/>
              </a:rPr>
              <a:t> for Low involvement. This 1.73-point difference demonstrates the measurable impact of family engagement on academic outcomes.</a:t>
            </a:r>
          </a:p>
        </p:txBody>
      </p:sp>
      <p:grpSp>
        <p:nvGrpSpPr>
          <p:cNvPr id="16" name="Group 16"/>
          <p:cNvGrpSpPr/>
          <p:nvPr/>
        </p:nvGrpSpPr>
        <p:grpSpPr>
          <a:xfrm>
            <a:off x="6538617" y="3591668"/>
            <a:ext cx="3022102" cy="3022102"/>
            <a:chOff x="0" y="0"/>
            <a:chExt cx="4029469" cy="4029469"/>
          </a:xfrm>
        </p:grpSpPr>
        <p:sp>
          <p:nvSpPr>
            <p:cNvPr id="17" name="Freeform 17" descr="preencoded.png"/>
            <p:cNvSpPr/>
            <p:nvPr/>
          </p:nvSpPr>
          <p:spPr>
            <a:xfrm>
              <a:off x="0" y="0"/>
              <a:ext cx="4029456" cy="4029456"/>
            </a:xfrm>
            <a:custGeom>
              <a:avLst/>
              <a:gdLst/>
              <a:ahLst/>
              <a:cxnLst/>
              <a:rect l="l" t="t" r="r" b="b"/>
              <a:pathLst>
                <a:path w="4029456" h="4029456">
                  <a:moveTo>
                    <a:pt x="0" y="0"/>
                  </a:moveTo>
                  <a:lnTo>
                    <a:pt x="4029456" y="0"/>
                  </a:lnTo>
                  <a:lnTo>
                    <a:pt x="4029456" y="4029456"/>
                  </a:lnTo>
                  <a:lnTo>
                    <a:pt x="0" y="4029456"/>
                  </a:lnTo>
                  <a:lnTo>
                    <a:pt x="0" y="0"/>
                  </a:lnTo>
                  <a:close/>
                </a:path>
              </a:pathLst>
            </a:custGeom>
            <a:blipFill>
              <a:blip r:embed="rId6"/>
              <a:stretch>
                <a:fillRect/>
              </a:stretch>
            </a:blipFill>
          </p:spPr>
        </p:sp>
      </p:grpSp>
      <p:sp>
        <p:nvSpPr>
          <p:cNvPr id="18" name="TextBox 18"/>
          <p:cNvSpPr txBox="1"/>
          <p:nvPr/>
        </p:nvSpPr>
        <p:spPr>
          <a:xfrm>
            <a:off x="6538617" y="6904139"/>
            <a:ext cx="2856014" cy="366417"/>
          </a:xfrm>
          <a:prstGeom prst="rect">
            <a:avLst/>
          </a:prstGeom>
        </p:spPr>
        <p:txBody>
          <a:bodyPr lIns="0" tIns="0" rIns="0" bIns="0" rtlCol="0" anchor="t">
            <a:spAutoFit/>
          </a:bodyPr>
          <a:lstStyle/>
          <a:p>
            <a:pPr algn="l">
              <a:lnSpc>
                <a:spcPts val="2750"/>
              </a:lnSpc>
            </a:pPr>
            <a:r>
              <a:rPr lang="en-US" sz="2187" b="1">
                <a:solidFill>
                  <a:srgbClr val="DAD8E9"/>
                </a:solidFill>
                <a:latin typeface="Prompt Medium"/>
                <a:ea typeface="Prompt Medium"/>
                <a:cs typeface="Prompt Medium"/>
                <a:sym typeface="Prompt Medium"/>
              </a:rPr>
              <a:t>Resource Access</a:t>
            </a:r>
          </a:p>
        </p:txBody>
      </p:sp>
      <p:sp>
        <p:nvSpPr>
          <p:cNvPr id="19" name="TextBox 19"/>
          <p:cNvSpPr txBox="1"/>
          <p:nvPr/>
        </p:nvSpPr>
        <p:spPr>
          <a:xfrm>
            <a:off x="6538617" y="7338270"/>
            <a:ext cx="5210623" cy="2063801"/>
          </a:xfrm>
          <a:prstGeom prst="rect">
            <a:avLst/>
          </a:prstGeom>
        </p:spPr>
        <p:txBody>
          <a:bodyPr lIns="0" tIns="0" rIns="0" bIns="0" rtlCol="0" anchor="t">
            <a:spAutoFit/>
          </a:bodyPr>
          <a:lstStyle/>
          <a:p>
            <a:pPr algn="l">
              <a:lnSpc>
                <a:spcPts val="3125"/>
              </a:lnSpc>
            </a:pPr>
            <a:r>
              <a:rPr lang="en-US" sz="2000">
                <a:solidFill>
                  <a:srgbClr val="DAD8E9"/>
                </a:solidFill>
                <a:latin typeface="Mukta Light"/>
                <a:ea typeface="Mukta Light"/>
                <a:cs typeface="Mukta Light"/>
                <a:sym typeface="Mukta Light"/>
              </a:rPr>
              <a:t> High access to resources (Internet, study materials) is correlated with a performance boost of approximately </a:t>
            </a:r>
            <a:r>
              <a:rPr lang="en-US" sz="2000" b="1">
                <a:solidFill>
                  <a:srgbClr val="DAD8E9"/>
                </a:solidFill>
                <a:latin typeface="Mukta Bold"/>
                <a:ea typeface="Mukta Bold"/>
                <a:cs typeface="Mukta Bold"/>
                <a:sym typeface="Mukta Bold"/>
              </a:rPr>
              <a:t>+2.0 points</a:t>
            </a:r>
            <a:r>
              <a:rPr lang="en-US" sz="2000">
                <a:solidFill>
                  <a:srgbClr val="DAD8E9"/>
                </a:solidFill>
                <a:latin typeface="Mukta Light"/>
                <a:ea typeface="Mukta Light"/>
                <a:cs typeface="Mukta Light"/>
                <a:sym typeface="Mukta Light"/>
              </a:rPr>
              <a:t>. This finding underscores the digital divide's impact on educational equity.</a:t>
            </a:r>
          </a:p>
        </p:txBody>
      </p:sp>
      <p:grpSp>
        <p:nvGrpSpPr>
          <p:cNvPr id="20" name="Group 20"/>
          <p:cNvGrpSpPr/>
          <p:nvPr/>
        </p:nvGrpSpPr>
        <p:grpSpPr>
          <a:xfrm>
            <a:off x="12049125" y="3591668"/>
            <a:ext cx="3022102" cy="3022102"/>
            <a:chOff x="0" y="0"/>
            <a:chExt cx="4029469" cy="4029469"/>
          </a:xfrm>
        </p:grpSpPr>
        <p:sp>
          <p:nvSpPr>
            <p:cNvPr id="21" name="Freeform 21" descr="preencoded.png"/>
            <p:cNvSpPr/>
            <p:nvPr/>
          </p:nvSpPr>
          <p:spPr>
            <a:xfrm>
              <a:off x="0" y="0"/>
              <a:ext cx="4029456" cy="4029456"/>
            </a:xfrm>
            <a:custGeom>
              <a:avLst/>
              <a:gdLst/>
              <a:ahLst/>
              <a:cxnLst/>
              <a:rect l="l" t="t" r="r" b="b"/>
              <a:pathLst>
                <a:path w="4029456" h="4029456">
                  <a:moveTo>
                    <a:pt x="0" y="0"/>
                  </a:moveTo>
                  <a:lnTo>
                    <a:pt x="4029456" y="0"/>
                  </a:lnTo>
                  <a:lnTo>
                    <a:pt x="4029456" y="4029456"/>
                  </a:lnTo>
                  <a:lnTo>
                    <a:pt x="0" y="4029456"/>
                  </a:lnTo>
                  <a:lnTo>
                    <a:pt x="0" y="0"/>
                  </a:lnTo>
                  <a:close/>
                </a:path>
              </a:pathLst>
            </a:custGeom>
            <a:blipFill>
              <a:blip r:embed="rId7"/>
              <a:stretch>
                <a:fillRect/>
              </a:stretch>
            </a:blipFill>
          </p:spPr>
        </p:sp>
      </p:grpSp>
      <p:sp>
        <p:nvSpPr>
          <p:cNvPr id="22" name="TextBox 22"/>
          <p:cNvSpPr txBox="1"/>
          <p:nvPr/>
        </p:nvSpPr>
        <p:spPr>
          <a:xfrm>
            <a:off x="12049125" y="6904139"/>
            <a:ext cx="2856014" cy="366417"/>
          </a:xfrm>
          <a:prstGeom prst="rect">
            <a:avLst/>
          </a:prstGeom>
        </p:spPr>
        <p:txBody>
          <a:bodyPr lIns="0" tIns="0" rIns="0" bIns="0" rtlCol="0" anchor="t">
            <a:spAutoFit/>
          </a:bodyPr>
          <a:lstStyle/>
          <a:p>
            <a:pPr algn="l">
              <a:lnSpc>
                <a:spcPts val="2750"/>
              </a:lnSpc>
            </a:pPr>
            <a:r>
              <a:rPr lang="en-US" sz="2187" b="1">
                <a:solidFill>
                  <a:srgbClr val="DAD8E9"/>
                </a:solidFill>
                <a:latin typeface="Prompt Medium"/>
                <a:ea typeface="Prompt Medium"/>
                <a:cs typeface="Prompt Medium"/>
                <a:sym typeface="Prompt Medium"/>
              </a:rPr>
              <a:t> Internet Access</a:t>
            </a:r>
          </a:p>
        </p:txBody>
      </p:sp>
      <p:sp>
        <p:nvSpPr>
          <p:cNvPr id="23" name="TextBox 23"/>
          <p:cNvSpPr txBox="1"/>
          <p:nvPr/>
        </p:nvSpPr>
        <p:spPr>
          <a:xfrm>
            <a:off x="12049125" y="7338270"/>
            <a:ext cx="5210766" cy="2063801"/>
          </a:xfrm>
          <a:prstGeom prst="rect">
            <a:avLst/>
          </a:prstGeom>
        </p:spPr>
        <p:txBody>
          <a:bodyPr lIns="0" tIns="0" rIns="0" bIns="0" rtlCol="0" anchor="t">
            <a:spAutoFit/>
          </a:bodyPr>
          <a:lstStyle/>
          <a:p>
            <a:pPr algn="l">
              <a:lnSpc>
                <a:spcPts val="3125"/>
              </a:lnSpc>
            </a:pPr>
            <a:r>
              <a:rPr lang="en-US" sz="2000">
                <a:solidFill>
                  <a:srgbClr val="DAD8E9"/>
                </a:solidFill>
                <a:latin typeface="Mukta Light"/>
                <a:ea typeface="Mukta Light"/>
                <a:cs typeface="Mukta Light"/>
                <a:sym typeface="Mukta Light"/>
              </a:rPr>
              <a:t> Over </a:t>
            </a:r>
            <a:r>
              <a:rPr lang="en-US" sz="2000" b="1">
                <a:solidFill>
                  <a:srgbClr val="DAD8E9"/>
                </a:solidFill>
                <a:latin typeface="Mukta Bold"/>
                <a:ea typeface="Mukta Bold"/>
                <a:cs typeface="Mukta Bold"/>
                <a:sym typeface="Mukta Bold"/>
              </a:rPr>
              <a:t>92.4%</a:t>
            </a:r>
            <a:r>
              <a:rPr lang="en-US" sz="2000">
                <a:solidFill>
                  <a:srgbClr val="DAD8E9"/>
                </a:solidFill>
                <a:latin typeface="Mukta Light"/>
                <a:ea typeface="Mukta Light"/>
                <a:cs typeface="Mukta Light"/>
                <a:sym typeface="Mukta Light"/>
              </a:rPr>
              <a:t> of students have internet access,    making digital interventions a viable strategy for almost the entire population. This high penetration rate enables scalable online support programs.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057275" y="814235"/>
            <a:ext cx="1685630" cy="489947"/>
            <a:chOff x="0" y="0"/>
            <a:chExt cx="2247506" cy="653263"/>
          </a:xfrm>
        </p:grpSpPr>
        <p:sp>
          <p:nvSpPr>
            <p:cNvPr id="7" name="Freeform 7"/>
            <p:cNvSpPr/>
            <p:nvPr/>
          </p:nvSpPr>
          <p:spPr>
            <a:xfrm>
              <a:off x="0" y="0"/>
              <a:ext cx="2247519" cy="653288"/>
            </a:xfrm>
            <a:custGeom>
              <a:avLst/>
              <a:gdLst/>
              <a:ahLst/>
              <a:cxnLst/>
              <a:rect l="l" t="t" r="r" b="b"/>
              <a:pathLst>
                <a:path w="2247519" h="653288">
                  <a:moveTo>
                    <a:pt x="0" y="118491"/>
                  </a:moveTo>
                  <a:cubicBezTo>
                    <a:pt x="0" y="52959"/>
                    <a:pt x="52959" y="0"/>
                    <a:pt x="118491" y="0"/>
                  </a:cubicBezTo>
                  <a:lnTo>
                    <a:pt x="2129028" y="0"/>
                  </a:lnTo>
                  <a:cubicBezTo>
                    <a:pt x="2194433" y="0"/>
                    <a:pt x="2247519" y="52959"/>
                    <a:pt x="2247519" y="118491"/>
                  </a:cubicBezTo>
                  <a:lnTo>
                    <a:pt x="2247519" y="534797"/>
                  </a:lnTo>
                  <a:cubicBezTo>
                    <a:pt x="2247519" y="600202"/>
                    <a:pt x="2194560" y="653288"/>
                    <a:pt x="2129028" y="653288"/>
                  </a:cubicBezTo>
                  <a:lnTo>
                    <a:pt x="118491" y="653288"/>
                  </a:lnTo>
                  <a:cubicBezTo>
                    <a:pt x="52959" y="653288"/>
                    <a:pt x="0" y="600202"/>
                    <a:pt x="0" y="534797"/>
                  </a:cubicBezTo>
                  <a:close/>
                </a:path>
              </a:pathLst>
            </a:custGeom>
            <a:solidFill>
              <a:srgbClr val="321A2C"/>
            </a:solidFill>
          </p:spPr>
        </p:sp>
      </p:grpSp>
      <p:sp>
        <p:nvSpPr>
          <p:cNvPr id="8" name="Freeform 8" descr="preencoded.png"/>
          <p:cNvSpPr/>
          <p:nvPr/>
        </p:nvSpPr>
        <p:spPr>
          <a:xfrm>
            <a:off x="1215781" y="953538"/>
            <a:ext cx="211341" cy="211341"/>
          </a:xfrm>
          <a:custGeom>
            <a:avLst/>
            <a:gdLst/>
            <a:ahLst/>
            <a:cxnLst/>
            <a:rect l="l" t="t" r="r" b="b"/>
            <a:pathLst>
              <a:path w="211341" h="211341">
                <a:moveTo>
                  <a:pt x="0" y="0"/>
                </a:moveTo>
                <a:lnTo>
                  <a:pt x="211340" y="0"/>
                </a:lnTo>
                <a:lnTo>
                  <a:pt x="211340" y="211341"/>
                </a:lnTo>
                <a:lnTo>
                  <a:pt x="0" y="211341"/>
                </a:lnTo>
                <a:lnTo>
                  <a:pt x="0" y="0"/>
                </a:lnTo>
                <a:close/>
              </a:path>
            </a:pathLst>
          </a:custGeom>
          <a:blipFill>
            <a:blip r:embed="rId3">
              <a:extLst>
                <a:ext uri="{96DAC541-7B7A-43D3-8B79-37D633B846F1}">
                  <asvg:svgBlip xmlns:asvg="http://schemas.microsoft.com/office/drawing/2016/SVG/main" r:embed="rId4"/>
                </a:ext>
              </a:extLst>
            </a:blip>
            <a:stretch>
              <a:fillRect t="-4349" b="-4344"/>
            </a:stretch>
          </a:blipFill>
        </p:spPr>
      </p:sp>
      <p:sp>
        <p:nvSpPr>
          <p:cNvPr id="9" name="TextBox 9"/>
          <p:cNvSpPr txBox="1"/>
          <p:nvPr/>
        </p:nvSpPr>
        <p:spPr>
          <a:xfrm>
            <a:off x="1532782" y="836266"/>
            <a:ext cx="1051617" cy="388734"/>
          </a:xfrm>
          <a:prstGeom prst="rect">
            <a:avLst/>
          </a:prstGeom>
        </p:spPr>
        <p:txBody>
          <a:bodyPr lIns="0" tIns="0" rIns="0" bIns="0" rtlCol="0" anchor="t">
            <a:spAutoFit/>
          </a:bodyPr>
          <a:lstStyle/>
          <a:p>
            <a:pPr algn="l">
              <a:lnSpc>
                <a:spcPts val="2562"/>
              </a:lnSpc>
            </a:pPr>
            <a:r>
              <a:rPr lang="en-US" sz="1625">
                <a:solidFill>
                  <a:srgbClr val="DAD8E9"/>
                </a:solidFill>
                <a:latin typeface="Mukta Light"/>
                <a:ea typeface="Mukta Light"/>
                <a:cs typeface="Mukta Light"/>
                <a:sym typeface="Mukta Light"/>
              </a:rPr>
              <a:t>PREDICTION</a:t>
            </a:r>
          </a:p>
        </p:txBody>
      </p:sp>
      <p:sp>
        <p:nvSpPr>
          <p:cNvPr id="10" name="TextBox 10"/>
          <p:cNvSpPr txBox="1"/>
          <p:nvPr/>
        </p:nvSpPr>
        <p:spPr>
          <a:xfrm>
            <a:off x="1057275" y="1386630"/>
            <a:ext cx="15278548" cy="753218"/>
          </a:xfrm>
          <a:prstGeom prst="rect">
            <a:avLst/>
          </a:prstGeom>
        </p:spPr>
        <p:txBody>
          <a:bodyPr lIns="0" tIns="0" rIns="0" bIns="0" rtlCol="0" anchor="t">
            <a:spAutoFit/>
          </a:bodyPr>
          <a:lstStyle/>
          <a:p>
            <a:pPr algn="l">
              <a:lnSpc>
                <a:spcPts val="5750"/>
              </a:lnSpc>
            </a:pPr>
            <a:r>
              <a:rPr lang="en-US" sz="4625" b="1">
                <a:solidFill>
                  <a:srgbClr val="C6BFEE"/>
                </a:solidFill>
                <a:latin typeface="Prompt Medium"/>
                <a:ea typeface="Prompt Medium"/>
                <a:cs typeface="Prompt Medium"/>
                <a:sym typeface="Prompt Medium"/>
              </a:rPr>
              <a:t>Predictive Modeling &amp; Student Persona Classification</a:t>
            </a:r>
          </a:p>
        </p:txBody>
      </p:sp>
      <p:sp>
        <p:nvSpPr>
          <p:cNvPr id="11" name="TextBox 11"/>
          <p:cNvSpPr txBox="1"/>
          <p:nvPr/>
        </p:nvSpPr>
        <p:spPr>
          <a:xfrm>
            <a:off x="1057275" y="2755106"/>
            <a:ext cx="3524698" cy="459581"/>
          </a:xfrm>
          <a:prstGeom prst="rect">
            <a:avLst/>
          </a:prstGeom>
        </p:spPr>
        <p:txBody>
          <a:bodyPr lIns="0" tIns="0" rIns="0" bIns="0" rtlCol="0" anchor="t">
            <a:spAutoFit/>
          </a:bodyPr>
          <a:lstStyle/>
          <a:p>
            <a:pPr algn="l">
              <a:lnSpc>
                <a:spcPts val="3437"/>
              </a:lnSpc>
            </a:pPr>
            <a:r>
              <a:rPr lang="en-US" sz="2750" b="1">
                <a:solidFill>
                  <a:srgbClr val="C6BFEE"/>
                </a:solidFill>
                <a:latin typeface="Prompt Medium"/>
                <a:ea typeface="Prompt Medium"/>
                <a:cs typeface="Prompt Medium"/>
                <a:sym typeface="Prompt Medium"/>
              </a:rPr>
              <a:t>How It Works</a:t>
            </a:r>
          </a:p>
        </p:txBody>
      </p:sp>
      <p:sp>
        <p:nvSpPr>
          <p:cNvPr id="12" name="TextBox 12"/>
          <p:cNvSpPr txBox="1"/>
          <p:nvPr/>
        </p:nvSpPr>
        <p:spPr>
          <a:xfrm>
            <a:off x="1057275" y="3392243"/>
            <a:ext cx="7764218" cy="1733550"/>
          </a:xfrm>
          <a:prstGeom prst="rect">
            <a:avLst/>
          </a:prstGeom>
        </p:spPr>
        <p:txBody>
          <a:bodyPr lIns="0" tIns="0" rIns="0" bIns="0" rtlCol="0" anchor="t">
            <a:spAutoFit/>
          </a:bodyPr>
          <a:lstStyle/>
          <a:p>
            <a:pPr algn="l">
              <a:lnSpc>
                <a:spcPts val="3249"/>
              </a:lnSpc>
            </a:pPr>
            <a:r>
              <a:rPr lang="en-US" sz="2062">
                <a:solidFill>
                  <a:srgbClr val="DAD8E9"/>
                </a:solidFill>
                <a:latin typeface="Mukta Light"/>
                <a:ea typeface="Mukta Light"/>
                <a:cs typeface="Mukta Light"/>
                <a:sym typeface="Mukta Light"/>
              </a:rPr>
              <a:t>The project includes a Student Predictor module that uses the trained K-Means centroids to classify new student data points. This system enables real-time identification of at-risk students and appropriate intervention matching.</a:t>
            </a:r>
          </a:p>
        </p:txBody>
      </p:sp>
      <p:sp>
        <p:nvSpPr>
          <p:cNvPr id="13" name="TextBox 13"/>
          <p:cNvSpPr txBox="1"/>
          <p:nvPr/>
        </p:nvSpPr>
        <p:spPr>
          <a:xfrm>
            <a:off x="1057275" y="5277888"/>
            <a:ext cx="7764218" cy="914400"/>
          </a:xfrm>
          <a:prstGeom prst="rect">
            <a:avLst/>
          </a:prstGeom>
        </p:spPr>
        <p:txBody>
          <a:bodyPr lIns="0" tIns="0" rIns="0" bIns="0" rtlCol="0" anchor="t">
            <a:spAutoFit/>
          </a:bodyPr>
          <a:lstStyle/>
          <a:p>
            <a:pPr algn="l">
              <a:lnSpc>
                <a:spcPts val="3249"/>
              </a:lnSpc>
            </a:pPr>
            <a:r>
              <a:rPr lang="en-US" sz="2062">
                <a:solidFill>
                  <a:srgbClr val="DAD8E9"/>
                </a:solidFill>
                <a:latin typeface="Mukta Light"/>
                <a:ea typeface="Mukta Light"/>
                <a:cs typeface="Mukta Light"/>
                <a:sym typeface="Mukta Light"/>
              </a:rPr>
              <a:t>The prediction confidence is calculated based on the Euclidean distance (</a:t>
            </a:r>
            <a:r>
              <a:rPr lang="en-US" sz="2062" i="1">
                <a:solidFill>
                  <a:srgbClr val="DAD8E9"/>
                </a:solidFill>
                <a:latin typeface="Mukta Light"/>
                <a:ea typeface="Mukta Light"/>
                <a:cs typeface="Mukta Light"/>
                <a:sym typeface="Mukta Light"/>
              </a:rPr>
              <a:t>d</a:t>
            </a:r>
            <a:r>
              <a:rPr lang="en-US" sz="2062">
                <a:solidFill>
                  <a:srgbClr val="DAD8E9"/>
                </a:solidFill>
                <a:latin typeface="Mukta Light"/>
                <a:ea typeface="Mukta Light"/>
                <a:cs typeface="Mukta Light"/>
                <a:sym typeface="Mukta Light"/>
              </a:rPr>
              <a:t>) to the nearest cluster centroid:</a:t>
            </a:r>
          </a:p>
        </p:txBody>
      </p:sp>
      <p:grpSp>
        <p:nvGrpSpPr>
          <p:cNvPr id="14" name="Group 14"/>
          <p:cNvGrpSpPr/>
          <p:nvPr/>
        </p:nvGrpSpPr>
        <p:grpSpPr>
          <a:xfrm>
            <a:off x="1057275" y="6513462"/>
            <a:ext cx="7764218" cy="752323"/>
            <a:chOff x="0" y="0"/>
            <a:chExt cx="10352291" cy="1003097"/>
          </a:xfrm>
        </p:grpSpPr>
        <p:sp>
          <p:nvSpPr>
            <p:cNvPr id="15" name="Freeform 15" descr="preencoded.png"/>
            <p:cNvSpPr/>
            <p:nvPr/>
          </p:nvSpPr>
          <p:spPr>
            <a:xfrm>
              <a:off x="0" y="0"/>
              <a:ext cx="10352278" cy="1003046"/>
            </a:xfrm>
            <a:custGeom>
              <a:avLst/>
              <a:gdLst/>
              <a:ahLst/>
              <a:cxnLst/>
              <a:rect l="l" t="t" r="r" b="b"/>
              <a:pathLst>
                <a:path w="10352278" h="1003046">
                  <a:moveTo>
                    <a:pt x="0" y="0"/>
                  </a:moveTo>
                  <a:lnTo>
                    <a:pt x="10352278" y="0"/>
                  </a:lnTo>
                  <a:lnTo>
                    <a:pt x="10352278" y="1003046"/>
                  </a:lnTo>
                  <a:lnTo>
                    <a:pt x="0" y="1003046"/>
                  </a:lnTo>
                  <a:lnTo>
                    <a:pt x="0" y="0"/>
                  </a:lnTo>
                  <a:close/>
                </a:path>
              </a:pathLst>
            </a:custGeom>
            <a:blipFill>
              <a:blip r:embed="rId5"/>
              <a:stretch>
                <a:fillRect l="-42" r="-42" b="-5"/>
              </a:stretch>
            </a:blipFill>
          </p:spPr>
        </p:sp>
      </p:grpSp>
      <p:sp>
        <p:nvSpPr>
          <p:cNvPr id="16" name="TextBox 16"/>
          <p:cNvSpPr txBox="1"/>
          <p:nvPr/>
        </p:nvSpPr>
        <p:spPr>
          <a:xfrm>
            <a:off x="1057275" y="7510758"/>
            <a:ext cx="7764218" cy="1733550"/>
          </a:xfrm>
          <a:prstGeom prst="rect">
            <a:avLst/>
          </a:prstGeom>
        </p:spPr>
        <p:txBody>
          <a:bodyPr lIns="0" tIns="0" rIns="0" bIns="0" rtlCol="0" anchor="t">
            <a:spAutoFit/>
          </a:bodyPr>
          <a:lstStyle/>
          <a:p>
            <a:pPr algn="l">
              <a:lnSpc>
                <a:spcPts val="3249"/>
              </a:lnSpc>
            </a:pPr>
            <a:r>
              <a:rPr lang="en-US" sz="2062">
                <a:solidFill>
                  <a:srgbClr val="DAD8E9"/>
                </a:solidFill>
                <a:latin typeface="Mukta Light"/>
                <a:ea typeface="Mukta Light"/>
                <a:cs typeface="Mukta Light"/>
                <a:sym typeface="Mukta Light"/>
              </a:rPr>
              <a:t>This formula allows the system to not only classify a student into one of the four personas but also provide a measure of how well they fit into that specific academic profile. Higher confidence scores indicate stronger alignment with the cluster characteristics.</a:t>
            </a:r>
          </a:p>
        </p:txBody>
      </p:sp>
      <p:grpSp>
        <p:nvGrpSpPr>
          <p:cNvPr id="17" name="Group 17"/>
          <p:cNvGrpSpPr/>
          <p:nvPr/>
        </p:nvGrpSpPr>
        <p:grpSpPr>
          <a:xfrm>
            <a:off x="9476032" y="2805855"/>
            <a:ext cx="2857500" cy="2857500"/>
            <a:chOff x="0" y="0"/>
            <a:chExt cx="3810000" cy="3810000"/>
          </a:xfrm>
        </p:grpSpPr>
        <p:sp>
          <p:nvSpPr>
            <p:cNvPr id="18" name="Freeform 18" descr="preencoded.png"/>
            <p:cNvSpPr/>
            <p:nvPr/>
          </p:nvSpPr>
          <p:spPr>
            <a:xfrm>
              <a:off x="0" y="0"/>
              <a:ext cx="3810000" cy="3810000"/>
            </a:xfrm>
            <a:custGeom>
              <a:avLst/>
              <a:gdLst/>
              <a:ahLst/>
              <a:cxnLst/>
              <a:rect l="l" t="t" r="r" b="b"/>
              <a:pathLst>
                <a:path w="3810000" h="3810000">
                  <a:moveTo>
                    <a:pt x="0" y="0"/>
                  </a:moveTo>
                  <a:lnTo>
                    <a:pt x="3810000" y="0"/>
                  </a:lnTo>
                  <a:lnTo>
                    <a:pt x="3810000" y="3810000"/>
                  </a:lnTo>
                  <a:lnTo>
                    <a:pt x="0" y="3810000"/>
                  </a:lnTo>
                  <a:lnTo>
                    <a:pt x="0" y="0"/>
                  </a:lnTo>
                  <a:close/>
                </a:path>
              </a:pathLst>
            </a:custGeom>
            <a:blipFill>
              <a:blip r:embed="rId6"/>
              <a:stretch>
                <a:fillRect/>
              </a:stretch>
            </a:blipFill>
          </p:spPr>
        </p:sp>
      </p:grpSp>
      <p:grpSp>
        <p:nvGrpSpPr>
          <p:cNvPr id="19" name="Group 19"/>
          <p:cNvGrpSpPr/>
          <p:nvPr/>
        </p:nvGrpSpPr>
        <p:grpSpPr>
          <a:xfrm>
            <a:off x="9476032" y="5948810"/>
            <a:ext cx="7764218" cy="2751982"/>
            <a:chOff x="0" y="0"/>
            <a:chExt cx="10352291" cy="3669309"/>
          </a:xfrm>
        </p:grpSpPr>
        <p:sp>
          <p:nvSpPr>
            <p:cNvPr id="20" name="Freeform 20"/>
            <p:cNvSpPr/>
            <p:nvPr/>
          </p:nvSpPr>
          <p:spPr>
            <a:xfrm>
              <a:off x="0" y="0"/>
              <a:ext cx="10352277" cy="3669284"/>
            </a:xfrm>
            <a:custGeom>
              <a:avLst/>
              <a:gdLst/>
              <a:ahLst/>
              <a:cxnLst/>
              <a:rect l="l" t="t" r="r" b="b"/>
              <a:pathLst>
                <a:path w="10352277" h="3669284">
                  <a:moveTo>
                    <a:pt x="0" y="148082"/>
                  </a:moveTo>
                  <a:cubicBezTo>
                    <a:pt x="0" y="66294"/>
                    <a:pt x="66294" y="0"/>
                    <a:pt x="148082" y="0"/>
                  </a:cubicBezTo>
                  <a:lnTo>
                    <a:pt x="10204196" y="0"/>
                  </a:lnTo>
                  <a:cubicBezTo>
                    <a:pt x="10285984" y="0"/>
                    <a:pt x="10352277" y="66294"/>
                    <a:pt x="10352277" y="148082"/>
                  </a:cubicBezTo>
                  <a:lnTo>
                    <a:pt x="10352277" y="3521202"/>
                  </a:lnTo>
                  <a:cubicBezTo>
                    <a:pt x="10352277" y="3602990"/>
                    <a:pt x="10285984" y="3669284"/>
                    <a:pt x="10204196" y="3669284"/>
                  </a:cubicBezTo>
                  <a:lnTo>
                    <a:pt x="148082" y="3669284"/>
                  </a:lnTo>
                  <a:cubicBezTo>
                    <a:pt x="66294" y="3669284"/>
                    <a:pt x="0" y="3602990"/>
                    <a:pt x="0" y="3521202"/>
                  </a:cubicBezTo>
                  <a:close/>
                </a:path>
              </a:pathLst>
            </a:custGeom>
            <a:solidFill>
              <a:srgbClr val="321A2C"/>
            </a:solidFill>
          </p:spPr>
        </p:sp>
      </p:grpSp>
      <p:grpSp>
        <p:nvGrpSpPr>
          <p:cNvPr id="21" name="Group 21"/>
          <p:cNvGrpSpPr/>
          <p:nvPr/>
        </p:nvGrpSpPr>
        <p:grpSpPr>
          <a:xfrm>
            <a:off x="9740351" y="6324152"/>
            <a:ext cx="330403" cy="264319"/>
            <a:chOff x="0" y="0"/>
            <a:chExt cx="440538" cy="352425"/>
          </a:xfrm>
        </p:grpSpPr>
        <p:sp>
          <p:nvSpPr>
            <p:cNvPr id="22" name="Freeform 22" descr="preencoded.png"/>
            <p:cNvSpPr/>
            <p:nvPr/>
          </p:nvSpPr>
          <p:spPr>
            <a:xfrm>
              <a:off x="0" y="0"/>
              <a:ext cx="440563" cy="352425"/>
            </a:xfrm>
            <a:custGeom>
              <a:avLst/>
              <a:gdLst/>
              <a:ahLst/>
              <a:cxnLst/>
              <a:rect l="l" t="t" r="r" b="b"/>
              <a:pathLst>
                <a:path w="440563" h="352425">
                  <a:moveTo>
                    <a:pt x="0" y="0"/>
                  </a:moveTo>
                  <a:lnTo>
                    <a:pt x="440563" y="0"/>
                  </a:lnTo>
                  <a:lnTo>
                    <a:pt x="440563" y="352425"/>
                  </a:lnTo>
                  <a:lnTo>
                    <a:pt x="0" y="352425"/>
                  </a:lnTo>
                  <a:lnTo>
                    <a:pt x="0" y="0"/>
                  </a:lnTo>
                  <a:close/>
                </a:path>
              </a:pathLst>
            </a:custGeom>
            <a:blipFill>
              <a:blip r:embed="rId7"/>
              <a:stretch>
                <a:fillRect r="5"/>
              </a:stretch>
            </a:blipFill>
          </p:spPr>
        </p:sp>
      </p:grpSp>
      <p:sp>
        <p:nvSpPr>
          <p:cNvPr id="23" name="TextBox 23"/>
          <p:cNvSpPr txBox="1"/>
          <p:nvPr/>
        </p:nvSpPr>
        <p:spPr>
          <a:xfrm>
            <a:off x="10335073" y="6192441"/>
            <a:ext cx="6640859" cy="2147888"/>
          </a:xfrm>
          <a:prstGeom prst="rect">
            <a:avLst/>
          </a:prstGeom>
        </p:spPr>
        <p:txBody>
          <a:bodyPr lIns="0" tIns="0" rIns="0" bIns="0" rtlCol="0" anchor="t">
            <a:spAutoFit/>
          </a:bodyPr>
          <a:lstStyle/>
          <a:p>
            <a:pPr algn="l">
              <a:lnSpc>
                <a:spcPts val="3249"/>
              </a:lnSpc>
            </a:pPr>
            <a:r>
              <a:rPr lang="en-US" sz="2062" b="1">
                <a:solidFill>
                  <a:srgbClr val="FFFFFF"/>
                </a:solidFill>
                <a:latin typeface="Mukta Bold"/>
                <a:ea typeface="Mukta Bold"/>
                <a:cs typeface="Mukta Bold"/>
                <a:sym typeface="Mukta Bold"/>
              </a:rPr>
              <a:t>Practical Application:</a:t>
            </a:r>
            <a:r>
              <a:rPr lang="en-US" sz="2062">
                <a:solidFill>
                  <a:srgbClr val="FFFFFF"/>
                </a:solidFill>
                <a:latin typeface="Mukta Light"/>
                <a:ea typeface="Mukta Light"/>
                <a:cs typeface="Mukta Light"/>
                <a:sym typeface="Mukta Light"/>
              </a:rPr>
              <a:t> When a new student's data is entered, the system instantly identifies their persona and suggests tailored interventions. For example, a student classified as "At Risk" with 85% confidence would immediately trigger attendance monitoring protocols.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1101328" y="1404490"/>
            <a:ext cx="1884016" cy="517627"/>
            <a:chOff x="0" y="0"/>
            <a:chExt cx="2512022" cy="690169"/>
          </a:xfrm>
        </p:grpSpPr>
        <p:sp>
          <p:nvSpPr>
            <p:cNvPr id="7" name="Freeform 7"/>
            <p:cNvSpPr/>
            <p:nvPr/>
          </p:nvSpPr>
          <p:spPr>
            <a:xfrm>
              <a:off x="0" y="0"/>
              <a:ext cx="2511933" cy="690118"/>
            </a:xfrm>
            <a:custGeom>
              <a:avLst/>
              <a:gdLst/>
              <a:ahLst/>
              <a:cxnLst/>
              <a:rect l="l" t="t" r="r" b="b"/>
              <a:pathLst>
                <a:path w="2511933" h="690118">
                  <a:moveTo>
                    <a:pt x="0" y="123317"/>
                  </a:moveTo>
                  <a:cubicBezTo>
                    <a:pt x="0" y="55245"/>
                    <a:pt x="55245" y="0"/>
                    <a:pt x="123317" y="0"/>
                  </a:cubicBezTo>
                  <a:lnTo>
                    <a:pt x="2388616" y="0"/>
                  </a:lnTo>
                  <a:cubicBezTo>
                    <a:pt x="2456688" y="0"/>
                    <a:pt x="2511933" y="55245"/>
                    <a:pt x="2511933" y="123317"/>
                  </a:cubicBezTo>
                  <a:lnTo>
                    <a:pt x="2511933" y="566801"/>
                  </a:lnTo>
                  <a:cubicBezTo>
                    <a:pt x="2511933" y="634873"/>
                    <a:pt x="2456688" y="690118"/>
                    <a:pt x="2388616" y="690118"/>
                  </a:cubicBezTo>
                  <a:lnTo>
                    <a:pt x="123317" y="690118"/>
                  </a:lnTo>
                  <a:cubicBezTo>
                    <a:pt x="55245" y="690118"/>
                    <a:pt x="0" y="634873"/>
                    <a:pt x="0" y="566801"/>
                  </a:cubicBezTo>
                  <a:close/>
                </a:path>
              </a:pathLst>
            </a:custGeom>
            <a:solidFill>
              <a:srgbClr val="321A2C"/>
            </a:solidFill>
          </p:spPr>
        </p:sp>
      </p:grpSp>
      <p:sp>
        <p:nvSpPr>
          <p:cNvPr id="8" name="Freeform 8" descr="preencoded.png"/>
          <p:cNvSpPr/>
          <p:nvPr/>
        </p:nvSpPr>
        <p:spPr>
          <a:xfrm>
            <a:off x="1266530" y="1553166"/>
            <a:ext cx="220266" cy="220266"/>
          </a:xfrm>
          <a:custGeom>
            <a:avLst/>
            <a:gdLst/>
            <a:ahLst/>
            <a:cxnLst/>
            <a:rect l="l" t="t" r="r" b="b"/>
            <a:pathLst>
              <a:path w="220266" h="220266">
                <a:moveTo>
                  <a:pt x="0" y="0"/>
                </a:moveTo>
                <a:lnTo>
                  <a:pt x="220265" y="0"/>
                </a:lnTo>
                <a:lnTo>
                  <a:pt x="220265" y="220265"/>
                </a:lnTo>
                <a:lnTo>
                  <a:pt x="0" y="2202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1596923" y="1420416"/>
            <a:ext cx="1223220" cy="419100"/>
          </a:xfrm>
          <a:prstGeom prst="rect">
            <a:avLst/>
          </a:prstGeom>
        </p:spPr>
        <p:txBody>
          <a:bodyPr lIns="0" tIns="0" rIns="0" bIns="0" rtlCol="0" anchor="t">
            <a:spAutoFit/>
          </a:bodyPr>
          <a:lstStyle/>
          <a:p>
            <a:pPr algn="l">
              <a:lnSpc>
                <a:spcPts val="2749"/>
              </a:lnSpc>
            </a:pPr>
            <a:r>
              <a:rPr lang="en-US" sz="1687">
                <a:solidFill>
                  <a:srgbClr val="DAD8E9"/>
                </a:solidFill>
                <a:latin typeface="Mukta Light"/>
                <a:ea typeface="Mukta Light"/>
                <a:cs typeface="Mukta Light"/>
                <a:sym typeface="Mukta Light"/>
              </a:rPr>
              <a:t>ACTION PLAN</a:t>
            </a:r>
          </a:p>
        </p:txBody>
      </p:sp>
      <p:sp>
        <p:nvSpPr>
          <p:cNvPr id="10" name="TextBox 10"/>
          <p:cNvSpPr txBox="1"/>
          <p:nvPr/>
        </p:nvSpPr>
        <p:spPr>
          <a:xfrm>
            <a:off x="1101328" y="2003669"/>
            <a:ext cx="8328269" cy="793547"/>
          </a:xfrm>
          <a:prstGeom prst="rect">
            <a:avLst/>
          </a:prstGeom>
        </p:spPr>
        <p:txBody>
          <a:bodyPr lIns="0" tIns="0" rIns="0" bIns="0" rtlCol="0" anchor="t">
            <a:spAutoFit/>
          </a:bodyPr>
          <a:lstStyle/>
          <a:p>
            <a:pPr algn="l">
              <a:lnSpc>
                <a:spcPts val="6000"/>
              </a:lnSpc>
            </a:pPr>
            <a:r>
              <a:rPr lang="en-US" sz="4812" b="1">
                <a:solidFill>
                  <a:srgbClr val="C6BFEE"/>
                </a:solidFill>
                <a:latin typeface="Prompt Medium"/>
                <a:ea typeface="Prompt Medium"/>
                <a:cs typeface="Prompt Medium"/>
                <a:sym typeface="Prompt Medium"/>
              </a:rPr>
              <a:t>Strategic Recommendations</a:t>
            </a:r>
          </a:p>
        </p:txBody>
      </p:sp>
      <p:sp>
        <p:nvSpPr>
          <p:cNvPr id="11" name="TextBox 11"/>
          <p:cNvSpPr txBox="1"/>
          <p:nvPr/>
        </p:nvSpPr>
        <p:spPr>
          <a:xfrm>
            <a:off x="1101328" y="3335383"/>
            <a:ext cx="16085344" cy="957262"/>
          </a:xfrm>
          <a:prstGeom prst="rect">
            <a:avLst/>
          </a:prstGeom>
        </p:spPr>
        <p:txBody>
          <a:bodyPr lIns="0" tIns="0" rIns="0" bIns="0" rtlCol="0" anchor="t">
            <a:spAutoFit/>
          </a:bodyPr>
          <a:lstStyle/>
          <a:p>
            <a:pPr algn="l">
              <a:lnSpc>
                <a:spcPts val="3437"/>
              </a:lnSpc>
            </a:pPr>
            <a:r>
              <a:rPr lang="en-US" sz="2125" dirty="0">
                <a:solidFill>
                  <a:srgbClr val="DAD8E9"/>
                </a:solidFill>
                <a:latin typeface="Mukta Light"/>
                <a:ea typeface="Mukta Light"/>
                <a:cs typeface="Mukta Light"/>
                <a:sym typeface="Mukta Light"/>
              </a:rPr>
              <a:t>Based on the data-driven insights, the following strategies are proposed to improve student outcomes across all personas. These recommendations are prioritized by impact and feasibility.</a:t>
            </a:r>
          </a:p>
        </p:txBody>
      </p:sp>
      <p:sp>
        <p:nvSpPr>
          <p:cNvPr id="12" name="TextBox 12"/>
          <p:cNvSpPr txBox="1"/>
          <p:nvPr/>
        </p:nvSpPr>
        <p:spPr>
          <a:xfrm>
            <a:off x="1101328" y="4315273"/>
            <a:ext cx="275330" cy="429816"/>
          </a:xfrm>
          <a:prstGeom prst="rect">
            <a:avLst/>
          </a:prstGeom>
        </p:spPr>
        <p:txBody>
          <a:bodyPr lIns="0" tIns="0" rIns="0" bIns="0" rtlCol="0" anchor="t">
            <a:spAutoFit/>
          </a:bodyPr>
          <a:lstStyle/>
          <a:p>
            <a:pPr algn="l">
              <a:lnSpc>
                <a:spcPts val="3437"/>
              </a:lnSpc>
            </a:pPr>
            <a:r>
              <a:rPr lang="en-US" sz="2125">
                <a:solidFill>
                  <a:srgbClr val="DAD8E9"/>
                </a:solidFill>
                <a:latin typeface="Prompt Light"/>
                <a:ea typeface="Prompt Light"/>
                <a:cs typeface="Prompt Light"/>
                <a:sym typeface="Prompt Light"/>
              </a:rPr>
              <a:t>01</a:t>
            </a:r>
          </a:p>
        </p:txBody>
      </p:sp>
      <p:grpSp>
        <p:nvGrpSpPr>
          <p:cNvPr id="13" name="Group 13"/>
          <p:cNvGrpSpPr/>
          <p:nvPr/>
        </p:nvGrpSpPr>
        <p:grpSpPr>
          <a:xfrm>
            <a:off x="1101328" y="4830813"/>
            <a:ext cx="5178181" cy="38100"/>
            <a:chOff x="0" y="0"/>
            <a:chExt cx="6904241" cy="50800"/>
          </a:xfrm>
        </p:grpSpPr>
        <p:sp>
          <p:nvSpPr>
            <p:cNvPr id="14" name="Freeform 14"/>
            <p:cNvSpPr/>
            <p:nvPr/>
          </p:nvSpPr>
          <p:spPr>
            <a:xfrm>
              <a:off x="0" y="0"/>
              <a:ext cx="6904228" cy="50800"/>
            </a:xfrm>
            <a:custGeom>
              <a:avLst/>
              <a:gdLst/>
              <a:ahLst/>
              <a:cxnLst/>
              <a:rect l="l" t="t" r="r" b="b"/>
              <a:pathLst>
                <a:path w="6904228" h="50800">
                  <a:moveTo>
                    <a:pt x="0" y="0"/>
                  </a:moveTo>
                  <a:lnTo>
                    <a:pt x="6904228" y="0"/>
                  </a:lnTo>
                  <a:lnTo>
                    <a:pt x="6904228" y="50800"/>
                  </a:lnTo>
                  <a:lnTo>
                    <a:pt x="0" y="50800"/>
                  </a:lnTo>
                  <a:close/>
                </a:path>
              </a:pathLst>
            </a:custGeom>
            <a:solidFill>
              <a:srgbClr val="A95B95"/>
            </a:solidFill>
          </p:spPr>
        </p:sp>
      </p:grpSp>
      <p:sp>
        <p:nvSpPr>
          <p:cNvPr id="15" name="TextBox 15"/>
          <p:cNvSpPr txBox="1"/>
          <p:nvPr/>
        </p:nvSpPr>
        <p:spPr>
          <a:xfrm>
            <a:off x="1101328" y="5025628"/>
            <a:ext cx="3468891" cy="401536"/>
          </a:xfrm>
          <a:prstGeom prst="rect">
            <a:avLst/>
          </a:prstGeom>
        </p:spPr>
        <p:txBody>
          <a:bodyPr lIns="0" tIns="0" rIns="0" bIns="0" rtlCol="0" anchor="t">
            <a:spAutoFit/>
          </a:bodyPr>
          <a:lstStyle/>
          <a:p>
            <a:pPr algn="l">
              <a:lnSpc>
                <a:spcPts val="3000"/>
              </a:lnSpc>
            </a:pPr>
            <a:r>
              <a:rPr lang="en-US" sz="2375" b="1">
                <a:solidFill>
                  <a:srgbClr val="DAD8E9"/>
                </a:solidFill>
                <a:latin typeface="Prompt Medium"/>
                <a:ea typeface="Prompt Medium"/>
                <a:cs typeface="Prompt Medium"/>
                <a:sym typeface="Prompt Medium"/>
              </a:rPr>
              <a:t>Attendance Monitoring</a:t>
            </a:r>
          </a:p>
        </p:txBody>
      </p:sp>
      <p:sp>
        <p:nvSpPr>
          <p:cNvPr id="16" name="TextBox 16"/>
          <p:cNvSpPr txBox="1"/>
          <p:nvPr/>
        </p:nvSpPr>
        <p:spPr>
          <a:xfrm>
            <a:off x="1101328" y="5516166"/>
            <a:ext cx="5178181" cy="2719388"/>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Since attendance is the strongest predictor (</a:t>
            </a:r>
            <a:r>
              <a:rPr lang="en-US" sz="2125" i="1">
                <a:solidFill>
                  <a:srgbClr val="DAD8E9"/>
                </a:solidFill>
                <a:latin typeface="Mukta Light"/>
                <a:ea typeface="Mukta Light"/>
                <a:cs typeface="Mukta Light"/>
                <a:sym typeface="Mukta Light"/>
              </a:rPr>
              <a:t>r=0.58</a:t>
            </a:r>
            <a:r>
              <a:rPr lang="en-US" sz="2125">
                <a:solidFill>
                  <a:srgbClr val="DAD8E9"/>
                </a:solidFill>
                <a:latin typeface="Mukta Light"/>
                <a:ea typeface="Mukta Light"/>
                <a:cs typeface="Mukta Light"/>
                <a:sym typeface="Mukta Light"/>
              </a:rPr>
              <a:t>), automated alerts for students dropping below 75% attendance should be prioritized. Implement real-time tracking systems that notify counselors and parents immediately when patterns emerge.</a:t>
            </a:r>
          </a:p>
        </p:txBody>
      </p:sp>
      <p:sp>
        <p:nvSpPr>
          <p:cNvPr id="17" name="TextBox 17"/>
          <p:cNvSpPr txBox="1"/>
          <p:nvPr/>
        </p:nvSpPr>
        <p:spPr>
          <a:xfrm>
            <a:off x="6554838" y="4315273"/>
            <a:ext cx="275330" cy="429816"/>
          </a:xfrm>
          <a:prstGeom prst="rect">
            <a:avLst/>
          </a:prstGeom>
        </p:spPr>
        <p:txBody>
          <a:bodyPr lIns="0" tIns="0" rIns="0" bIns="0" rtlCol="0" anchor="t">
            <a:spAutoFit/>
          </a:bodyPr>
          <a:lstStyle/>
          <a:p>
            <a:pPr algn="l">
              <a:lnSpc>
                <a:spcPts val="3437"/>
              </a:lnSpc>
            </a:pPr>
            <a:r>
              <a:rPr lang="en-US" sz="2125">
                <a:solidFill>
                  <a:srgbClr val="DAD8E9"/>
                </a:solidFill>
                <a:latin typeface="Prompt Light"/>
                <a:ea typeface="Prompt Light"/>
                <a:cs typeface="Prompt Light"/>
                <a:sym typeface="Prompt Light"/>
              </a:rPr>
              <a:t>02</a:t>
            </a:r>
          </a:p>
        </p:txBody>
      </p:sp>
      <p:grpSp>
        <p:nvGrpSpPr>
          <p:cNvPr id="18" name="Group 18"/>
          <p:cNvGrpSpPr/>
          <p:nvPr/>
        </p:nvGrpSpPr>
        <p:grpSpPr>
          <a:xfrm>
            <a:off x="6554838" y="4830813"/>
            <a:ext cx="5178181" cy="38100"/>
            <a:chOff x="0" y="0"/>
            <a:chExt cx="6904241" cy="50800"/>
          </a:xfrm>
        </p:grpSpPr>
        <p:sp>
          <p:nvSpPr>
            <p:cNvPr id="19" name="Freeform 19"/>
            <p:cNvSpPr/>
            <p:nvPr/>
          </p:nvSpPr>
          <p:spPr>
            <a:xfrm>
              <a:off x="0" y="0"/>
              <a:ext cx="6904228" cy="50800"/>
            </a:xfrm>
            <a:custGeom>
              <a:avLst/>
              <a:gdLst/>
              <a:ahLst/>
              <a:cxnLst/>
              <a:rect l="l" t="t" r="r" b="b"/>
              <a:pathLst>
                <a:path w="6904228" h="50800">
                  <a:moveTo>
                    <a:pt x="0" y="0"/>
                  </a:moveTo>
                  <a:lnTo>
                    <a:pt x="6904228" y="0"/>
                  </a:lnTo>
                  <a:lnTo>
                    <a:pt x="6904228" y="50800"/>
                  </a:lnTo>
                  <a:lnTo>
                    <a:pt x="0" y="50800"/>
                  </a:lnTo>
                  <a:close/>
                </a:path>
              </a:pathLst>
            </a:custGeom>
            <a:solidFill>
              <a:srgbClr val="A95B95"/>
            </a:solidFill>
          </p:spPr>
        </p:sp>
      </p:grpSp>
      <p:sp>
        <p:nvSpPr>
          <p:cNvPr id="20" name="TextBox 20"/>
          <p:cNvSpPr txBox="1"/>
          <p:nvPr/>
        </p:nvSpPr>
        <p:spPr>
          <a:xfrm>
            <a:off x="6554838" y="5025628"/>
            <a:ext cx="3059611" cy="401536"/>
          </a:xfrm>
          <a:prstGeom prst="rect">
            <a:avLst/>
          </a:prstGeom>
        </p:spPr>
        <p:txBody>
          <a:bodyPr lIns="0" tIns="0" rIns="0" bIns="0" rtlCol="0" anchor="t">
            <a:spAutoFit/>
          </a:bodyPr>
          <a:lstStyle/>
          <a:p>
            <a:pPr algn="l">
              <a:lnSpc>
                <a:spcPts val="3000"/>
              </a:lnSpc>
            </a:pPr>
            <a:r>
              <a:rPr lang="en-US" sz="2375" b="1">
                <a:solidFill>
                  <a:srgbClr val="DAD8E9"/>
                </a:solidFill>
                <a:latin typeface="Prompt Medium"/>
                <a:ea typeface="Prompt Medium"/>
                <a:cs typeface="Prompt Medium"/>
                <a:sym typeface="Prompt Medium"/>
              </a:rPr>
              <a:t>Study Workshops</a:t>
            </a:r>
          </a:p>
        </p:txBody>
      </p:sp>
      <p:sp>
        <p:nvSpPr>
          <p:cNvPr id="21" name="TextBox 21"/>
          <p:cNvSpPr txBox="1"/>
          <p:nvPr/>
        </p:nvSpPr>
        <p:spPr>
          <a:xfrm>
            <a:off x="6554838" y="5516166"/>
            <a:ext cx="5178181" cy="2719388"/>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Students in Cluster 0 (At Risk) should be incentivized to increase study hours from 18 to 25 hours/week to mirror the High Performer cluster. Offer structured study sessions with peer mentors and time management training.</a:t>
            </a:r>
          </a:p>
        </p:txBody>
      </p:sp>
      <p:sp>
        <p:nvSpPr>
          <p:cNvPr id="22" name="TextBox 22"/>
          <p:cNvSpPr txBox="1"/>
          <p:nvPr/>
        </p:nvSpPr>
        <p:spPr>
          <a:xfrm>
            <a:off x="12008348" y="4315273"/>
            <a:ext cx="275330" cy="429816"/>
          </a:xfrm>
          <a:prstGeom prst="rect">
            <a:avLst/>
          </a:prstGeom>
        </p:spPr>
        <p:txBody>
          <a:bodyPr lIns="0" tIns="0" rIns="0" bIns="0" rtlCol="0" anchor="t">
            <a:spAutoFit/>
          </a:bodyPr>
          <a:lstStyle/>
          <a:p>
            <a:pPr algn="l">
              <a:lnSpc>
                <a:spcPts val="3437"/>
              </a:lnSpc>
            </a:pPr>
            <a:r>
              <a:rPr lang="en-US" sz="2125">
                <a:solidFill>
                  <a:srgbClr val="DAD8E9"/>
                </a:solidFill>
                <a:latin typeface="Prompt Light"/>
                <a:ea typeface="Prompt Light"/>
                <a:cs typeface="Prompt Light"/>
                <a:sym typeface="Prompt Light"/>
              </a:rPr>
              <a:t>03</a:t>
            </a:r>
          </a:p>
        </p:txBody>
      </p:sp>
      <p:grpSp>
        <p:nvGrpSpPr>
          <p:cNvPr id="23" name="Group 23"/>
          <p:cNvGrpSpPr/>
          <p:nvPr/>
        </p:nvGrpSpPr>
        <p:grpSpPr>
          <a:xfrm>
            <a:off x="12008348" y="4830813"/>
            <a:ext cx="5178181" cy="38100"/>
            <a:chOff x="0" y="0"/>
            <a:chExt cx="6904241" cy="50800"/>
          </a:xfrm>
        </p:grpSpPr>
        <p:sp>
          <p:nvSpPr>
            <p:cNvPr id="24" name="Freeform 24"/>
            <p:cNvSpPr/>
            <p:nvPr/>
          </p:nvSpPr>
          <p:spPr>
            <a:xfrm>
              <a:off x="0" y="0"/>
              <a:ext cx="6904228" cy="50800"/>
            </a:xfrm>
            <a:custGeom>
              <a:avLst/>
              <a:gdLst/>
              <a:ahLst/>
              <a:cxnLst/>
              <a:rect l="l" t="t" r="r" b="b"/>
              <a:pathLst>
                <a:path w="6904228" h="50800">
                  <a:moveTo>
                    <a:pt x="0" y="0"/>
                  </a:moveTo>
                  <a:lnTo>
                    <a:pt x="6904228" y="0"/>
                  </a:lnTo>
                  <a:lnTo>
                    <a:pt x="6904228" y="50800"/>
                  </a:lnTo>
                  <a:lnTo>
                    <a:pt x="0" y="50800"/>
                  </a:lnTo>
                  <a:close/>
                </a:path>
              </a:pathLst>
            </a:custGeom>
            <a:solidFill>
              <a:srgbClr val="A95B95"/>
            </a:solidFill>
          </p:spPr>
        </p:sp>
      </p:grpSp>
      <p:sp>
        <p:nvSpPr>
          <p:cNvPr id="25" name="TextBox 25"/>
          <p:cNvSpPr txBox="1"/>
          <p:nvPr/>
        </p:nvSpPr>
        <p:spPr>
          <a:xfrm>
            <a:off x="12008348" y="5025628"/>
            <a:ext cx="3059611" cy="401536"/>
          </a:xfrm>
          <a:prstGeom prst="rect">
            <a:avLst/>
          </a:prstGeom>
        </p:spPr>
        <p:txBody>
          <a:bodyPr lIns="0" tIns="0" rIns="0" bIns="0" rtlCol="0" anchor="t">
            <a:spAutoFit/>
          </a:bodyPr>
          <a:lstStyle/>
          <a:p>
            <a:pPr algn="l">
              <a:lnSpc>
                <a:spcPts val="3000"/>
              </a:lnSpc>
            </a:pPr>
            <a:r>
              <a:rPr lang="en-US" sz="2375" b="1">
                <a:solidFill>
                  <a:srgbClr val="DAD8E9"/>
                </a:solidFill>
                <a:latin typeface="Prompt Medium"/>
                <a:ea typeface="Prompt Medium"/>
                <a:cs typeface="Prompt Medium"/>
                <a:sym typeface="Prompt Medium"/>
              </a:rPr>
              <a:t>Tutoring Equity</a:t>
            </a:r>
          </a:p>
        </p:txBody>
      </p:sp>
      <p:sp>
        <p:nvSpPr>
          <p:cNvPr id="26" name="TextBox 26"/>
          <p:cNvSpPr txBox="1"/>
          <p:nvPr/>
        </p:nvSpPr>
        <p:spPr>
          <a:xfrm>
            <a:off x="12008348" y="5516166"/>
            <a:ext cx="5178181" cy="3159919"/>
          </a:xfrm>
          <a:prstGeom prst="rect">
            <a:avLst/>
          </a:prstGeom>
        </p:spPr>
        <p:txBody>
          <a:bodyPr lIns="0" tIns="0" rIns="0" bIns="0" rtlCol="0" anchor="t">
            <a:spAutoFit/>
          </a:bodyPr>
          <a:lstStyle/>
          <a:p>
            <a:pPr algn="l">
              <a:lnSpc>
                <a:spcPts val="3437"/>
              </a:lnSpc>
            </a:pPr>
            <a:r>
              <a:rPr lang="en-US" sz="2125">
                <a:solidFill>
                  <a:srgbClr val="DAD8E9"/>
                </a:solidFill>
                <a:latin typeface="Mukta Light"/>
                <a:ea typeface="Mukta Light"/>
                <a:cs typeface="Mukta Light"/>
                <a:sym typeface="Mukta Light"/>
              </a:rPr>
              <a:t>For students with Low resource access, the school should provide subsidized tutoring sessions, as Cluster 3 shows that tutoring effectively stabilizes performance even with moderate attendance. Allocate budget for after-school programs targeting underserved populations.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B0C23">
                <a:alpha val="90196"/>
              </a:srgbClr>
            </a:solidFill>
          </p:spPr>
        </p:sp>
      </p:grpSp>
      <p:grpSp>
        <p:nvGrpSpPr>
          <p:cNvPr id="6" name="Group 6"/>
          <p:cNvGrpSpPr/>
          <p:nvPr/>
        </p:nvGrpSpPr>
        <p:grpSpPr>
          <a:xfrm>
            <a:off x="2077488" y="1574302"/>
            <a:ext cx="1361780" cy="344386"/>
            <a:chOff x="0" y="0"/>
            <a:chExt cx="1815706" cy="459181"/>
          </a:xfrm>
        </p:grpSpPr>
        <p:sp>
          <p:nvSpPr>
            <p:cNvPr id="7" name="Freeform 7"/>
            <p:cNvSpPr/>
            <p:nvPr/>
          </p:nvSpPr>
          <p:spPr>
            <a:xfrm>
              <a:off x="0" y="0"/>
              <a:ext cx="1815719" cy="459105"/>
            </a:xfrm>
            <a:custGeom>
              <a:avLst/>
              <a:gdLst/>
              <a:ahLst/>
              <a:cxnLst/>
              <a:rect l="l" t="t" r="r" b="b"/>
              <a:pathLst>
                <a:path w="1815719" h="459105">
                  <a:moveTo>
                    <a:pt x="0" y="90297"/>
                  </a:moveTo>
                  <a:cubicBezTo>
                    <a:pt x="0" y="40386"/>
                    <a:pt x="40386" y="0"/>
                    <a:pt x="90297" y="0"/>
                  </a:cubicBezTo>
                  <a:lnTo>
                    <a:pt x="1725422" y="0"/>
                  </a:lnTo>
                  <a:cubicBezTo>
                    <a:pt x="1775333" y="0"/>
                    <a:pt x="1815719" y="40386"/>
                    <a:pt x="1815719" y="90297"/>
                  </a:cubicBezTo>
                  <a:lnTo>
                    <a:pt x="1815719" y="368808"/>
                  </a:lnTo>
                  <a:cubicBezTo>
                    <a:pt x="1815719" y="418719"/>
                    <a:pt x="1775333" y="459105"/>
                    <a:pt x="1725422" y="459105"/>
                  </a:cubicBezTo>
                  <a:lnTo>
                    <a:pt x="90297" y="459105"/>
                  </a:lnTo>
                  <a:cubicBezTo>
                    <a:pt x="40386" y="459232"/>
                    <a:pt x="0" y="418719"/>
                    <a:pt x="0" y="368808"/>
                  </a:cubicBezTo>
                  <a:close/>
                </a:path>
              </a:pathLst>
            </a:custGeom>
            <a:solidFill>
              <a:srgbClr val="321A2C"/>
            </a:solidFill>
          </p:spPr>
        </p:sp>
      </p:grpSp>
      <p:sp>
        <p:nvSpPr>
          <p:cNvPr id="8" name="Freeform 8" descr="preencoded.png"/>
          <p:cNvSpPr/>
          <p:nvPr/>
        </p:nvSpPr>
        <p:spPr>
          <a:xfrm>
            <a:off x="2198341" y="1665837"/>
            <a:ext cx="161182" cy="161182"/>
          </a:xfrm>
          <a:custGeom>
            <a:avLst/>
            <a:gdLst/>
            <a:ahLst/>
            <a:cxnLst/>
            <a:rect l="l" t="t" r="r" b="b"/>
            <a:pathLst>
              <a:path w="161182" h="161182">
                <a:moveTo>
                  <a:pt x="0" y="0"/>
                </a:moveTo>
                <a:lnTo>
                  <a:pt x="161182" y="0"/>
                </a:lnTo>
                <a:lnTo>
                  <a:pt x="161182" y="161182"/>
                </a:lnTo>
                <a:lnTo>
                  <a:pt x="0" y="161182"/>
                </a:lnTo>
                <a:lnTo>
                  <a:pt x="0" y="0"/>
                </a:lnTo>
                <a:close/>
              </a:path>
            </a:pathLst>
          </a:custGeom>
          <a:blipFill>
            <a:blip r:embed="rId3">
              <a:extLst>
                <a:ext uri="{96DAC541-7B7A-43D3-8B79-37D633B846F1}">
                  <asvg:svgBlip xmlns:asvg="http://schemas.microsoft.com/office/drawing/2016/SVG/main" r:embed="rId4"/>
                </a:ext>
              </a:extLst>
            </a:blip>
            <a:stretch>
              <a:fillRect l="-17645" r="-17645"/>
            </a:stretch>
          </a:blipFill>
        </p:spPr>
      </p:sp>
      <p:sp>
        <p:nvSpPr>
          <p:cNvPr id="9" name="TextBox 9"/>
          <p:cNvSpPr txBox="1"/>
          <p:nvPr/>
        </p:nvSpPr>
        <p:spPr>
          <a:xfrm>
            <a:off x="2440038" y="1615678"/>
            <a:ext cx="878386" cy="242592"/>
          </a:xfrm>
          <a:prstGeom prst="rect">
            <a:avLst/>
          </a:prstGeom>
        </p:spPr>
        <p:txBody>
          <a:bodyPr lIns="0" tIns="0" rIns="0" bIns="0" rtlCol="0" anchor="t">
            <a:spAutoFit/>
          </a:bodyPr>
          <a:lstStyle/>
          <a:p>
            <a:pPr algn="l">
              <a:lnSpc>
                <a:spcPts val="1750"/>
              </a:lnSpc>
            </a:pPr>
            <a:r>
              <a:rPr lang="en-US" sz="1249">
                <a:solidFill>
                  <a:srgbClr val="DAD8E9"/>
                </a:solidFill>
                <a:latin typeface="Mukta Light"/>
                <a:ea typeface="Mukta Light"/>
                <a:cs typeface="Mukta Light"/>
                <a:sym typeface="Mukta Light"/>
              </a:rPr>
              <a:t>CONCLUSION</a:t>
            </a:r>
          </a:p>
        </p:txBody>
      </p:sp>
      <p:sp>
        <p:nvSpPr>
          <p:cNvPr id="10" name="TextBox 10"/>
          <p:cNvSpPr txBox="1"/>
          <p:nvPr/>
        </p:nvSpPr>
        <p:spPr>
          <a:xfrm>
            <a:off x="2077488" y="1968103"/>
            <a:ext cx="9657007" cy="569566"/>
          </a:xfrm>
          <a:prstGeom prst="rect">
            <a:avLst/>
          </a:prstGeom>
        </p:spPr>
        <p:txBody>
          <a:bodyPr lIns="0" tIns="0" rIns="0" bIns="0" rtlCol="0" anchor="t">
            <a:spAutoFit/>
          </a:bodyPr>
          <a:lstStyle/>
          <a:p>
            <a:pPr algn="l">
              <a:lnSpc>
                <a:spcPts val="4375"/>
              </a:lnSpc>
            </a:pPr>
            <a:r>
              <a:rPr lang="en-US" sz="3500" b="1">
                <a:solidFill>
                  <a:srgbClr val="C6BFEE"/>
                </a:solidFill>
                <a:latin typeface="Prompt Medium"/>
                <a:ea typeface="Prompt Medium"/>
                <a:cs typeface="Prompt Medium"/>
                <a:sym typeface="Prompt Medium"/>
              </a:rPr>
              <a:t>Moving Forward with Data-Driven Education</a:t>
            </a:r>
          </a:p>
        </p:txBody>
      </p:sp>
      <p:grpSp>
        <p:nvGrpSpPr>
          <p:cNvPr id="11" name="Group 11"/>
          <p:cNvGrpSpPr/>
          <p:nvPr/>
        </p:nvGrpSpPr>
        <p:grpSpPr>
          <a:xfrm>
            <a:off x="2077488" y="2924918"/>
            <a:ext cx="2857500" cy="2857500"/>
            <a:chOff x="0" y="0"/>
            <a:chExt cx="3810000" cy="3810000"/>
          </a:xfrm>
        </p:grpSpPr>
        <p:sp>
          <p:nvSpPr>
            <p:cNvPr id="12" name="Freeform 12" descr="preencoded.png"/>
            <p:cNvSpPr/>
            <p:nvPr/>
          </p:nvSpPr>
          <p:spPr>
            <a:xfrm>
              <a:off x="0" y="0"/>
              <a:ext cx="3810000" cy="3810000"/>
            </a:xfrm>
            <a:custGeom>
              <a:avLst/>
              <a:gdLst/>
              <a:ahLst/>
              <a:cxnLst/>
              <a:rect l="l" t="t" r="r" b="b"/>
              <a:pathLst>
                <a:path w="3810000" h="3810000">
                  <a:moveTo>
                    <a:pt x="0" y="0"/>
                  </a:moveTo>
                  <a:lnTo>
                    <a:pt x="3810000" y="0"/>
                  </a:lnTo>
                  <a:lnTo>
                    <a:pt x="3810000" y="3810000"/>
                  </a:lnTo>
                  <a:lnTo>
                    <a:pt x="0" y="3810000"/>
                  </a:lnTo>
                  <a:lnTo>
                    <a:pt x="0" y="0"/>
                  </a:lnTo>
                  <a:close/>
                </a:path>
              </a:pathLst>
            </a:custGeom>
            <a:blipFill>
              <a:blip r:embed="rId5"/>
              <a:stretch>
                <a:fillRect/>
              </a:stretch>
            </a:blipFill>
          </p:spPr>
        </p:sp>
      </p:grpSp>
      <p:sp>
        <p:nvSpPr>
          <p:cNvPr id="13" name="TextBox 13"/>
          <p:cNvSpPr txBox="1"/>
          <p:nvPr/>
        </p:nvSpPr>
        <p:spPr>
          <a:xfrm>
            <a:off x="8668045" y="2863158"/>
            <a:ext cx="7551839" cy="1425331"/>
          </a:xfrm>
          <a:prstGeom prst="rect">
            <a:avLst/>
          </a:prstGeom>
        </p:spPr>
        <p:txBody>
          <a:bodyPr lIns="0" tIns="0" rIns="0" bIns="0" rtlCol="0" anchor="t">
            <a:spAutoFit/>
          </a:bodyPr>
          <a:lstStyle/>
          <a:p>
            <a:pPr algn="l">
              <a:lnSpc>
                <a:spcPts val="2187"/>
              </a:lnSpc>
            </a:pPr>
            <a:r>
              <a:rPr lang="en-US" sz="1562">
                <a:solidFill>
                  <a:srgbClr val="DAD8E9"/>
                </a:solidFill>
                <a:latin typeface="Mukta Light"/>
                <a:ea typeface="Mukta Light"/>
                <a:cs typeface="Mukta Light"/>
                <a:sym typeface="Mukta Light"/>
              </a:rPr>
              <a:t>The EduMetrics platform provides a robust framework for understanding student performance that goes far beyond traditional grade-tracking. By leveraging machine learning to identify behavioral patterns and segment students into actionable personas, institutions can provide personalized support that addresses the specific needs of each student cluster.</a:t>
            </a:r>
          </a:p>
        </p:txBody>
      </p:sp>
      <p:sp>
        <p:nvSpPr>
          <p:cNvPr id="14" name="TextBox 14"/>
          <p:cNvSpPr txBox="1"/>
          <p:nvPr/>
        </p:nvSpPr>
        <p:spPr>
          <a:xfrm>
            <a:off x="8668045" y="4392663"/>
            <a:ext cx="7551839" cy="1425331"/>
          </a:xfrm>
          <a:prstGeom prst="rect">
            <a:avLst/>
          </a:prstGeom>
        </p:spPr>
        <p:txBody>
          <a:bodyPr lIns="0" tIns="0" rIns="0" bIns="0" rtlCol="0" anchor="t">
            <a:spAutoFit/>
          </a:bodyPr>
          <a:lstStyle/>
          <a:p>
            <a:pPr algn="l">
              <a:lnSpc>
                <a:spcPts val="2187"/>
              </a:lnSpc>
            </a:pPr>
            <a:r>
              <a:rPr lang="en-US" sz="1562">
                <a:solidFill>
                  <a:srgbClr val="DAD8E9"/>
                </a:solidFill>
                <a:latin typeface="Mukta Light"/>
                <a:ea typeface="Mukta Light"/>
                <a:cs typeface="Mukta Light"/>
                <a:sym typeface="Mukta Light"/>
              </a:rPr>
              <a:t>Our analysis of over 6,000 student records has revealed that </a:t>
            </a:r>
            <a:r>
              <a:rPr lang="en-US" sz="1562" b="1">
                <a:solidFill>
                  <a:srgbClr val="DAD8E9"/>
                </a:solidFill>
                <a:latin typeface="Mukta Bold"/>
                <a:ea typeface="Mukta Bold"/>
                <a:cs typeface="Mukta Bold"/>
                <a:sym typeface="Mukta Bold"/>
              </a:rPr>
              <a:t>attendance and study hours are the primary drivers of success</a:t>
            </a:r>
            <a:r>
              <a:rPr lang="en-US" sz="1562">
                <a:solidFill>
                  <a:srgbClr val="DAD8E9"/>
                </a:solidFill>
                <a:latin typeface="Mukta Light"/>
                <a:ea typeface="Mukta Light"/>
                <a:cs typeface="Mukta Light"/>
                <a:sym typeface="Mukta Light"/>
              </a:rPr>
              <a:t>, while parental involvement and resource access serve as critical support structures. The four distinct student personas — At Risk, Diligent/Needs Help, High Performers, and Supported Learners — each require different intervention strategies.</a:t>
            </a:r>
          </a:p>
        </p:txBody>
      </p:sp>
      <p:sp>
        <p:nvSpPr>
          <p:cNvPr id="15" name="TextBox 15"/>
          <p:cNvSpPr txBox="1"/>
          <p:nvPr/>
        </p:nvSpPr>
        <p:spPr>
          <a:xfrm>
            <a:off x="8668045" y="5922169"/>
            <a:ext cx="7551839" cy="866623"/>
          </a:xfrm>
          <a:prstGeom prst="rect">
            <a:avLst/>
          </a:prstGeom>
        </p:spPr>
        <p:txBody>
          <a:bodyPr lIns="0" tIns="0" rIns="0" bIns="0" rtlCol="0" anchor="t">
            <a:spAutoFit/>
          </a:bodyPr>
          <a:lstStyle/>
          <a:p>
            <a:pPr algn="l">
              <a:lnSpc>
                <a:spcPts val="2187"/>
              </a:lnSpc>
            </a:pPr>
            <a:r>
              <a:rPr lang="en-US" sz="1562">
                <a:solidFill>
                  <a:srgbClr val="DAD8E9"/>
                </a:solidFill>
                <a:latin typeface="Mukta Light"/>
                <a:ea typeface="Mukta Light"/>
                <a:cs typeface="Mukta Light"/>
                <a:sym typeface="Mukta Light"/>
              </a:rPr>
              <a:t>By implementing the strategic recommendations outlined in this report, educational institutions can move from reactive to proactive support systems, ultimately improving overall academic outcomes and ensuring that no student falls through the cracks.</a:t>
            </a:r>
          </a:p>
        </p:txBody>
      </p:sp>
      <p:sp>
        <p:nvSpPr>
          <p:cNvPr id="16" name="TextBox 16"/>
          <p:cNvSpPr txBox="1"/>
          <p:nvPr/>
        </p:nvSpPr>
        <p:spPr>
          <a:xfrm>
            <a:off x="2077488" y="7283501"/>
            <a:ext cx="4588078" cy="570014"/>
          </a:xfrm>
          <a:prstGeom prst="rect">
            <a:avLst/>
          </a:prstGeom>
        </p:spPr>
        <p:txBody>
          <a:bodyPr lIns="0" tIns="0" rIns="0" bIns="0" rtlCol="0" anchor="t">
            <a:spAutoFit/>
          </a:bodyPr>
          <a:lstStyle/>
          <a:p>
            <a:pPr algn="ctr">
              <a:lnSpc>
                <a:spcPts val="5187"/>
              </a:lnSpc>
            </a:pPr>
            <a:r>
              <a:rPr lang="en-US" sz="5187" b="1">
                <a:solidFill>
                  <a:srgbClr val="DAD8E9"/>
                </a:solidFill>
                <a:latin typeface="Prompt Medium"/>
                <a:ea typeface="Prompt Medium"/>
                <a:cs typeface="Prompt Medium"/>
                <a:sym typeface="Prompt Medium"/>
              </a:rPr>
              <a:t>6K+</a:t>
            </a:r>
          </a:p>
        </p:txBody>
      </p:sp>
      <p:sp>
        <p:nvSpPr>
          <p:cNvPr id="17" name="TextBox 17"/>
          <p:cNvSpPr txBox="1"/>
          <p:nvPr/>
        </p:nvSpPr>
        <p:spPr>
          <a:xfrm>
            <a:off x="3251444" y="8064846"/>
            <a:ext cx="2240166" cy="279949"/>
          </a:xfrm>
          <a:prstGeom prst="rect">
            <a:avLst/>
          </a:prstGeom>
        </p:spPr>
        <p:txBody>
          <a:bodyPr lIns="0" tIns="0" rIns="0" bIns="0" rtlCol="0" anchor="t">
            <a:spAutoFit/>
          </a:bodyPr>
          <a:lstStyle/>
          <a:p>
            <a:pPr algn="ctr">
              <a:lnSpc>
                <a:spcPts val="2187"/>
              </a:lnSpc>
            </a:pPr>
            <a:r>
              <a:rPr lang="en-US" sz="1750" b="1">
                <a:solidFill>
                  <a:srgbClr val="DAD8E9"/>
                </a:solidFill>
                <a:latin typeface="Prompt Medium"/>
                <a:ea typeface="Prompt Medium"/>
                <a:cs typeface="Prompt Medium"/>
                <a:sym typeface="Prompt Medium"/>
              </a:rPr>
              <a:t>Students Analyzed</a:t>
            </a:r>
          </a:p>
        </p:txBody>
      </p:sp>
      <p:sp>
        <p:nvSpPr>
          <p:cNvPr id="18" name="TextBox 18"/>
          <p:cNvSpPr txBox="1"/>
          <p:nvPr/>
        </p:nvSpPr>
        <p:spPr>
          <a:xfrm>
            <a:off x="2077488" y="8404774"/>
            <a:ext cx="4588078" cy="307924"/>
          </a:xfrm>
          <a:prstGeom prst="rect">
            <a:avLst/>
          </a:prstGeom>
        </p:spPr>
        <p:txBody>
          <a:bodyPr lIns="0" tIns="0" rIns="0" bIns="0" rtlCol="0" anchor="t">
            <a:spAutoFit/>
          </a:bodyPr>
          <a:lstStyle/>
          <a:p>
            <a:pPr algn="ctr">
              <a:lnSpc>
                <a:spcPts val="2187"/>
              </a:lnSpc>
            </a:pPr>
            <a:r>
              <a:rPr lang="en-US" sz="1562">
                <a:solidFill>
                  <a:srgbClr val="DAD8E9"/>
                </a:solidFill>
                <a:latin typeface="Mukta Light"/>
                <a:ea typeface="Mukta Light"/>
                <a:cs typeface="Mukta Light"/>
                <a:sym typeface="Mukta Light"/>
              </a:rPr>
              <a:t>Comprehensive dataset enabling robust insights</a:t>
            </a:r>
          </a:p>
        </p:txBody>
      </p:sp>
      <p:sp>
        <p:nvSpPr>
          <p:cNvPr id="19" name="TextBox 19"/>
          <p:cNvSpPr txBox="1"/>
          <p:nvPr/>
        </p:nvSpPr>
        <p:spPr>
          <a:xfrm>
            <a:off x="6849961" y="7283501"/>
            <a:ext cx="4588078" cy="570014"/>
          </a:xfrm>
          <a:prstGeom prst="rect">
            <a:avLst/>
          </a:prstGeom>
        </p:spPr>
        <p:txBody>
          <a:bodyPr lIns="0" tIns="0" rIns="0" bIns="0" rtlCol="0" anchor="t">
            <a:spAutoFit/>
          </a:bodyPr>
          <a:lstStyle/>
          <a:p>
            <a:pPr algn="ctr">
              <a:lnSpc>
                <a:spcPts val="5187"/>
              </a:lnSpc>
            </a:pPr>
            <a:r>
              <a:rPr lang="en-US" sz="5187" b="1">
                <a:solidFill>
                  <a:srgbClr val="DAD8E9"/>
                </a:solidFill>
                <a:latin typeface="Prompt Medium"/>
                <a:ea typeface="Prompt Medium"/>
                <a:cs typeface="Prompt Medium"/>
                <a:sym typeface="Prompt Medium"/>
              </a:rPr>
              <a:t>4</a:t>
            </a:r>
          </a:p>
        </p:txBody>
      </p:sp>
      <p:sp>
        <p:nvSpPr>
          <p:cNvPr id="20" name="TextBox 20"/>
          <p:cNvSpPr txBox="1"/>
          <p:nvPr/>
        </p:nvSpPr>
        <p:spPr>
          <a:xfrm>
            <a:off x="8023917" y="8064846"/>
            <a:ext cx="2240166" cy="279949"/>
          </a:xfrm>
          <a:prstGeom prst="rect">
            <a:avLst/>
          </a:prstGeom>
        </p:spPr>
        <p:txBody>
          <a:bodyPr lIns="0" tIns="0" rIns="0" bIns="0" rtlCol="0" anchor="t">
            <a:spAutoFit/>
          </a:bodyPr>
          <a:lstStyle/>
          <a:p>
            <a:pPr algn="ctr">
              <a:lnSpc>
                <a:spcPts val="2187"/>
              </a:lnSpc>
            </a:pPr>
            <a:r>
              <a:rPr lang="en-US" sz="1750" b="1">
                <a:solidFill>
                  <a:srgbClr val="DAD8E9"/>
                </a:solidFill>
                <a:latin typeface="Prompt Medium"/>
                <a:ea typeface="Prompt Medium"/>
                <a:cs typeface="Prompt Medium"/>
                <a:sym typeface="Prompt Medium"/>
              </a:rPr>
              <a:t>Distinct Personas</a:t>
            </a:r>
          </a:p>
        </p:txBody>
      </p:sp>
      <p:sp>
        <p:nvSpPr>
          <p:cNvPr id="21" name="TextBox 21"/>
          <p:cNvSpPr txBox="1"/>
          <p:nvPr/>
        </p:nvSpPr>
        <p:spPr>
          <a:xfrm>
            <a:off x="6849961" y="8404774"/>
            <a:ext cx="4588078" cy="307924"/>
          </a:xfrm>
          <a:prstGeom prst="rect">
            <a:avLst/>
          </a:prstGeom>
        </p:spPr>
        <p:txBody>
          <a:bodyPr lIns="0" tIns="0" rIns="0" bIns="0" rtlCol="0" anchor="t">
            <a:spAutoFit/>
          </a:bodyPr>
          <a:lstStyle/>
          <a:p>
            <a:pPr algn="ctr">
              <a:lnSpc>
                <a:spcPts val="2187"/>
              </a:lnSpc>
            </a:pPr>
            <a:r>
              <a:rPr lang="en-US" sz="1562">
                <a:solidFill>
                  <a:srgbClr val="DAD8E9"/>
                </a:solidFill>
                <a:latin typeface="Mukta Light"/>
                <a:ea typeface="Mukta Light"/>
                <a:cs typeface="Mukta Light"/>
                <a:sym typeface="Mukta Light"/>
              </a:rPr>
              <a:t>Actionable segments for targeted interventions</a:t>
            </a:r>
          </a:p>
        </p:txBody>
      </p:sp>
      <p:sp>
        <p:nvSpPr>
          <p:cNvPr id="22" name="TextBox 22"/>
          <p:cNvSpPr txBox="1"/>
          <p:nvPr/>
        </p:nvSpPr>
        <p:spPr>
          <a:xfrm>
            <a:off x="11622434" y="7283501"/>
            <a:ext cx="4588078" cy="570014"/>
          </a:xfrm>
          <a:prstGeom prst="rect">
            <a:avLst/>
          </a:prstGeom>
        </p:spPr>
        <p:txBody>
          <a:bodyPr lIns="0" tIns="0" rIns="0" bIns="0" rtlCol="0" anchor="t">
            <a:spAutoFit/>
          </a:bodyPr>
          <a:lstStyle/>
          <a:p>
            <a:pPr algn="ctr">
              <a:lnSpc>
                <a:spcPts val="5187"/>
              </a:lnSpc>
            </a:pPr>
            <a:r>
              <a:rPr lang="en-US" sz="5187" b="1">
                <a:solidFill>
                  <a:srgbClr val="DAD8E9"/>
                </a:solidFill>
                <a:latin typeface="Prompt Medium"/>
                <a:ea typeface="Prompt Medium"/>
                <a:cs typeface="Prompt Medium"/>
                <a:sym typeface="Prompt Medium"/>
              </a:rPr>
              <a:t>0.58</a:t>
            </a:r>
          </a:p>
        </p:txBody>
      </p:sp>
      <p:sp>
        <p:nvSpPr>
          <p:cNvPr id="23" name="TextBox 23"/>
          <p:cNvSpPr txBox="1"/>
          <p:nvPr/>
        </p:nvSpPr>
        <p:spPr>
          <a:xfrm>
            <a:off x="12636256" y="8064846"/>
            <a:ext cx="2560434" cy="279949"/>
          </a:xfrm>
          <a:prstGeom prst="rect">
            <a:avLst/>
          </a:prstGeom>
        </p:spPr>
        <p:txBody>
          <a:bodyPr lIns="0" tIns="0" rIns="0" bIns="0" rtlCol="0" anchor="t">
            <a:spAutoFit/>
          </a:bodyPr>
          <a:lstStyle/>
          <a:p>
            <a:pPr algn="ctr">
              <a:lnSpc>
                <a:spcPts val="2187"/>
              </a:lnSpc>
            </a:pPr>
            <a:r>
              <a:rPr lang="en-US" sz="1750" b="1">
                <a:solidFill>
                  <a:srgbClr val="DAD8E9"/>
                </a:solidFill>
                <a:latin typeface="Prompt Medium"/>
                <a:ea typeface="Prompt Medium"/>
                <a:cs typeface="Prompt Medium"/>
                <a:sym typeface="Prompt Medium"/>
              </a:rPr>
              <a:t>Attendance Correlation</a:t>
            </a:r>
          </a:p>
        </p:txBody>
      </p:sp>
      <p:sp>
        <p:nvSpPr>
          <p:cNvPr id="24" name="TextBox 24"/>
          <p:cNvSpPr txBox="1"/>
          <p:nvPr/>
        </p:nvSpPr>
        <p:spPr>
          <a:xfrm>
            <a:off x="11622434" y="8516693"/>
            <a:ext cx="4588078" cy="307924"/>
          </a:xfrm>
          <a:prstGeom prst="rect">
            <a:avLst/>
          </a:prstGeom>
        </p:spPr>
        <p:txBody>
          <a:bodyPr lIns="0" tIns="0" rIns="0" bIns="0" rtlCol="0" anchor="t">
            <a:spAutoFit/>
          </a:bodyPr>
          <a:lstStyle/>
          <a:p>
            <a:pPr algn="ctr">
              <a:lnSpc>
                <a:spcPts val="2187"/>
              </a:lnSpc>
            </a:pPr>
            <a:r>
              <a:rPr lang="en-US" sz="1562" dirty="0">
                <a:solidFill>
                  <a:srgbClr val="DAD8E9"/>
                </a:solidFill>
                <a:latin typeface="Mukta Light"/>
                <a:ea typeface="Mukta Light"/>
                <a:cs typeface="Mukta Light"/>
                <a:sym typeface="Mukta Light"/>
              </a:rPr>
              <a:t>Strongest predictor of academic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1368</Words>
  <Application>Microsoft Office PowerPoint</Application>
  <PresentationFormat>Custom</PresentationFormat>
  <Paragraphs>99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Mukta Light</vt:lpstr>
      <vt:lpstr>Prompt Light</vt:lpstr>
      <vt:lpstr>Mukta Bold</vt:lpstr>
      <vt:lpstr>Arial</vt:lpstr>
      <vt:lpstr>Calibri</vt:lpstr>
      <vt:lpstr>Prompt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alanstephen06@gmail.com</cp:lastModifiedBy>
  <cp:revision>1</cp:revision>
  <dcterms:created xsi:type="dcterms:W3CDTF">2006-08-16T00:00:00Z</dcterms:created>
  <dcterms:modified xsi:type="dcterms:W3CDTF">2026-02-16T03:52:29Z</dcterms:modified>
  <dc:identifier>DAHBc4qtTF4</dc:identifier>
</cp:coreProperties>
</file>